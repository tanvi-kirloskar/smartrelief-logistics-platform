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27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10"/>
  </p:normalViewPr>
  <p:slideViewPr>
    <p:cSldViewPr snapToGrid="0" snapToObjects="1">
      <p:cViewPr>
        <p:scale>
          <a:sx n="106" d="100"/>
          <a:sy n="106" d="100"/>
        </p:scale>
        <p:origin x="88"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7685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stating the problem in one sentence: every second counts in a disaster, and today's coordination systems can't keep up. This project is a fully working AI system — not a prototype — built end-to-end for this capstone.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data: NDRF (India's National Disaster Response Force) after 2023 Sikkim floods — coordination teams needed 72+ hours to establish full resource picture. This is the problem we're solving. Keep it short here — two sentences max, then move 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this is a complete, working system. The agents actually run. The POST hits a real FastAPI server. The dashboard updates in real time. Not a prototype — a production-grade architecture designed for real-world scale.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clean contract between layers. The frontend only knows about the JSON schema from /analyze. The agent pipeline is swappable. The Zustand store is the single source of truth. No circular dependencies, no magic globals.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pipeline left-to-right. Each agent adds a structured field to the response. The Security Agent can halt the pipeline. Human Review is a deliberate gate — fully automatable but kept manual for accountability. Show the JSON — it's the contract.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not a checkbox — it's a first-class pipeline stage. If the Security Agent returns FAILED, the orchestrator stops immediately. No resource allocation, no notifications, no false positives reaching operators in the field. This design choice came from the field: false alerts in disaster response cause teams to ignore genuine ones.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demo after this slide. Key talking point: the frontend has zero hardcoded analysis data after integration. Every field you see on this dashboard comes from the backend JSON. The Zustand store is the single source of truth — any component can subscribe.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novelty for novelty's sake. React + TypeScript + Zustand is a proven stack for stateful real-time dashboards. FastAPI because it's fast to develop and self-documenting. The strict JSON contract between frontend and backend means either side can be replaced independently.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aren't speculative — they're the known gaps from building the current system. WebSockets were scoped out of this capstone to keep the API simple. Geospatial routing is the highest-value next add for real-world use. Multi-incident support requires a proper task queue — Redis or Celery.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on this and pause. Have the live demo ready to switch to immediately. Common questions to prepare for: (1) How does the Security Agent decide FAILED? — answer: classification model + threshold config. (2) How would this scale to 100 concurrent incidents? — answer: task queue, stateless agents, horizontal scaling. (3) Why Python backend, not Node? — answer: AI/ML ecosystem, agent libraries.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37"/>
        </a:solidFill>
        <a:effectLst/>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3175">
            <a:solidFill>
              <a:srgbClr val="FFFFFF">
                <a:alpha val="10000"/>
              </a:srgbClr>
            </a:solidFill>
            <a:prstDash val="solid"/>
          </a:ln>
        </p:spPr>
      </p:sp>
      <p:sp>
        <p:nvSpPr>
          <p:cNvPr id="3" name="Shape 1"/>
          <p:cNvSpPr/>
          <p:nvPr/>
        </p:nvSpPr>
        <p:spPr>
          <a:xfrm>
            <a:off x="914400" y="0"/>
            <a:ext cx="0" cy="5143500"/>
          </a:xfrm>
          <a:prstGeom prst="line">
            <a:avLst/>
          </a:prstGeom>
          <a:noFill/>
          <a:ln w="3175">
            <a:solidFill>
              <a:srgbClr val="FFFFFF">
                <a:alpha val="10000"/>
              </a:srgbClr>
            </a:solidFill>
            <a:prstDash val="solid"/>
          </a:ln>
        </p:spPr>
      </p:sp>
      <p:sp>
        <p:nvSpPr>
          <p:cNvPr id="4" name="Shape 2"/>
          <p:cNvSpPr/>
          <p:nvPr/>
        </p:nvSpPr>
        <p:spPr>
          <a:xfrm>
            <a:off x="1828800" y="0"/>
            <a:ext cx="0" cy="5143500"/>
          </a:xfrm>
          <a:prstGeom prst="line">
            <a:avLst/>
          </a:prstGeom>
          <a:noFill/>
          <a:ln w="3175">
            <a:solidFill>
              <a:srgbClr val="FFFFFF">
                <a:alpha val="10000"/>
              </a:srgbClr>
            </a:solidFill>
            <a:prstDash val="solid"/>
          </a:ln>
        </p:spPr>
      </p:sp>
      <p:sp>
        <p:nvSpPr>
          <p:cNvPr id="5" name="Shape 3"/>
          <p:cNvSpPr/>
          <p:nvPr/>
        </p:nvSpPr>
        <p:spPr>
          <a:xfrm>
            <a:off x="2743200" y="0"/>
            <a:ext cx="0" cy="5143500"/>
          </a:xfrm>
          <a:prstGeom prst="line">
            <a:avLst/>
          </a:prstGeom>
          <a:noFill/>
          <a:ln w="3175">
            <a:solidFill>
              <a:srgbClr val="FFFFFF">
                <a:alpha val="10000"/>
              </a:srgbClr>
            </a:solidFill>
            <a:prstDash val="solid"/>
          </a:ln>
        </p:spPr>
      </p:sp>
      <p:sp>
        <p:nvSpPr>
          <p:cNvPr id="6" name="Shape 4"/>
          <p:cNvSpPr/>
          <p:nvPr/>
        </p:nvSpPr>
        <p:spPr>
          <a:xfrm>
            <a:off x="3657600" y="0"/>
            <a:ext cx="0" cy="5143500"/>
          </a:xfrm>
          <a:prstGeom prst="line">
            <a:avLst/>
          </a:prstGeom>
          <a:noFill/>
          <a:ln w="3175">
            <a:solidFill>
              <a:srgbClr val="FFFFFF">
                <a:alpha val="10000"/>
              </a:srgbClr>
            </a:solidFill>
            <a:prstDash val="solid"/>
          </a:ln>
        </p:spPr>
      </p:sp>
      <p:sp>
        <p:nvSpPr>
          <p:cNvPr id="7" name="Shape 5"/>
          <p:cNvSpPr/>
          <p:nvPr/>
        </p:nvSpPr>
        <p:spPr>
          <a:xfrm>
            <a:off x="4572000" y="0"/>
            <a:ext cx="0" cy="5143500"/>
          </a:xfrm>
          <a:prstGeom prst="line">
            <a:avLst/>
          </a:prstGeom>
          <a:noFill/>
          <a:ln w="3175">
            <a:solidFill>
              <a:srgbClr val="FFFFFF">
                <a:alpha val="10000"/>
              </a:srgbClr>
            </a:solidFill>
            <a:prstDash val="solid"/>
          </a:ln>
        </p:spPr>
      </p:sp>
      <p:sp>
        <p:nvSpPr>
          <p:cNvPr id="8" name="Shape 6"/>
          <p:cNvSpPr/>
          <p:nvPr/>
        </p:nvSpPr>
        <p:spPr>
          <a:xfrm>
            <a:off x="5486400" y="0"/>
            <a:ext cx="0" cy="5143500"/>
          </a:xfrm>
          <a:prstGeom prst="line">
            <a:avLst/>
          </a:prstGeom>
          <a:noFill/>
          <a:ln w="3175">
            <a:solidFill>
              <a:srgbClr val="FFFFFF">
                <a:alpha val="10000"/>
              </a:srgbClr>
            </a:solidFill>
            <a:prstDash val="solid"/>
          </a:ln>
        </p:spPr>
      </p:sp>
      <p:sp>
        <p:nvSpPr>
          <p:cNvPr id="9" name="Shape 7"/>
          <p:cNvSpPr/>
          <p:nvPr/>
        </p:nvSpPr>
        <p:spPr>
          <a:xfrm>
            <a:off x="6400800" y="0"/>
            <a:ext cx="0" cy="5143500"/>
          </a:xfrm>
          <a:prstGeom prst="line">
            <a:avLst/>
          </a:prstGeom>
          <a:noFill/>
          <a:ln w="3175">
            <a:solidFill>
              <a:srgbClr val="FFFFFF">
                <a:alpha val="10000"/>
              </a:srgbClr>
            </a:solidFill>
            <a:prstDash val="solid"/>
          </a:ln>
        </p:spPr>
      </p:sp>
      <p:sp>
        <p:nvSpPr>
          <p:cNvPr id="10" name="Shape 8"/>
          <p:cNvSpPr/>
          <p:nvPr/>
        </p:nvSpPr>
        <p:spPr>
          <a:xfrm>
            <a:off x="7315200" y="0"/>
            <a:ext cx="0" cy="5143500"/>
          </a:xfrm>
          <a:prstGeom prst="line">
            <a:avLst/>
          </a:prstGeom>
          <a:noFill/>
          <a:ln w="3175">
            <a:solidFill>
              <a:srgbClr val="FFFFFF">
                <a:alpha val="10000"/>
              </a:srgbClr>
            </a:solidFill>
            <a:prstDash val="solid"/>
          </a:ln>
        </p:spPr>
      </p:sp>
      <p:sp>
        <p:nvSpPr>
          <p:cNvPr id="11" name="Shape 9"/>
          <p:cNvSpPr/>
          <p:nvPr/>
        </p:nvSpPr>
        <p:spPr>
          <a:xfrm>
            <a:off x="8229600" y="0"/>
            <a:ext cx="0" cy="5143500"/>
          </a:xfrm>
          <a:prstGeom prst="line">
            <a:avLst/>
          </a:prstGeom>
          <a:noFill/>
          <a:ln w="3175">
            <a:solidFill>
              <a:srgbClr val="FFFFFF">
                <a:alpha val="10000"/>
              </a:srgbClr>
            </a:solidFill>
            <a:prstDash val="solid"/>
          </a:ln>
        </p:spPr>
      </p:sp>
      <p:sp>
        <p:nvSpPr>
          <p:cNvPr id="12" name="Shape 10"/>
          <p:cNvSpPr/>
          <p:nvPr/>
        </p:nvSpPr>
        <p:spPr>
          <a:xfrm>
            <a:off x="9144000" y="0"/>
            <a:ext cx="0" cy="5143500"/>
          </a:xfrm>
          <a:prstGeom prst="line">
            <a:avLst/>
          </a:prstGeom>
          <a:noFill/>
          <a:ln w="3175">
            <a:solidFill>
              <a:srgbClr val="FFFFFF">
                <a:alpha val="10000"/>
              </a:srgbClr>
            </a:solidFill>
            <a:prstDash val="solid"/>
          </a:ln>
        </p:spPr>
      </p:sp>
      <p:sp>
        <p:nvSpPr>
          <p:cNvPr id="13" name="Shape 11"/>
          <p:cNvSpPr/>
          <p:nvPr/>
        </p:nvSpPr>
        <p:spPr>
          <a:xfrm>
            <a:off x="0" y="0"/>
            <a:ext cx="9144000" cy="0"/>
          </a:xfrm>
          <a:prstGeom prst="line">
            <a:avLst/>
          </a:prstGeom>
          <a:noFill/>
          <a:ln w="3175">
            <a:solidFill>
              <a:srgbClr val="FFFFFF">
                <a:alpha val="10000"/>
              </a:srgbClr>
            </a:solidFill>
            <a:prstDash val="solid"/>
          </a:ln>
        </p:spPr>
      </p:sp>
      <p:sp>
        <p:nvSpPr>
          <p:cNvPr id="14" name="Shape 12"/>
          <p:cNvSpPr/>
          <p:nvPr/>
        </p:nvSpPr>
        <p:spPr>
          <a:xfrm>
            <a:off x="0" y="822960"/>
            <a:ext cx="9144000" cy="0"/>
          </a:xfrm>
          <a:prstGeom prst="line">
            <a:avLst/>
          </a:prstGeom>
          <a:noFill/>
          <a:ln w="3175">
            <a:solidFill>
              <a:srgbClr val="FFFFFF">
                <a:alpha val="10000"/>
              </a:srgbClr>
            </a:solidFill>
            <a:prstDash val="solid"/>
          </a:ln>
        </p:spPr>
      </p:sp>
      <p:sp>
        <p:nvSpPr>
          <p:cNvPr id="15" name="Shape 13"/>
          <p:cNvSpPr/>
          <p:nvPr/>
        </p:nvSpPr>
        <p:spPr>
          <a:xfrm>
            <a:off x="0" y="1645920"/>
            <a:ext cx="9144000" cy="0"/>
          </a:xfrm>
          <a:prstGeom prst="line">
            <a:avLst/>
          </a:prstGeom>
          <a:noFill/>
          <a:ln w="3175">
            <a:solidFill>
              <a:srgbClr val="FFFFFF">
                <a:alpha val="10000"/>
              </a:srgbClr>
            </a:solidFill>
            <a:prstDash val="solid"/>
          </a:ln>
        </p:spPr>
      </p:sp>
      <p:sp>
        <p:nvSpPr>
          <p:cNvPr id="16" name="Shape 14"/>
          <p:cNvSpPr/>
          <p:nvPr/>
        </p:nvSpPr>
        <p:spPr>
          <a:xfrm>
            <a:off x="0" y="2468880"/>
            <a:ext cx="9144000" cy="0"/>
          </a:xfrm>
          <a:prstGeom prst="line">
            <a:avLst/>
          </a:prstGeom>
          <a:noFill/>
          <a:ln w="3175">
            <a:solidFill>
              <a:srgbClr val="FFFFFF">
                <a:alpha val="10000"/>
              </a:srgbClr>
            </a:solidFill>
            <a:prstDash val="solid"/>
          </a:ln>
        </p:spPr>
      </p:sp>
      <p:sp>
        <p:nvSpPr>
          <p:cNvPr id="17" name="Shape 15"/>
          <p:cNvSpPr/>
          <p:nvPr/>
        </p:nvSpPr>
        <p:spPr>
          <a:xfrm>
            <a:off x="0" y="3291840"/>
            <a:ext cx="9144000" cy="0"/>
          </a:xfrm>
          <a:prstGeom prst="line">
            <a:avLst/>
          </a:prstGeom>
          <a:noFill/>
          <a:ln w="3175">
            <a:solidFill>
              <a:srgbClr val="FFFFFF">
                <a:alpha val="10000"/>
              </a:srgbClr>
            </a:solidFill>
            <a:prstDash val="solid"/>
          </a:ln>
        </p:spPr>
      </p:sp>
      <p:sp>
        <p:nvSpPr>
          <p:cNvPr id="18" name="Shape 16"/>
          <p:cNvSpPr/>
          <p:nvPr/>
        </p:nvSpPr>
        <p:spPr>
          <a:xfrm>
            <a:off x="0" y="4114800"/>
            <a:ext cx="9144000" cy="0"/>
          </a:xfrm>
          <a:prstGeom prst="line">
            <a:avLst/>
          </a:prstGeom>
          <a:noFill/>
          <a:ln w="3175">
            <a:solidFill>
              <a:srgbClr val="FFFFFF">
                <a:alpha val="10000"/>
              </a:srgbClr>
            </a:solidFill>
            <a:prstDash val="solid"/>
          </a:ln>
        </p:spPr>
      </p:sp>
      <p:sp>
        <p:nvSpPr>
          <p:cNvPr id="19" name="Shape 17"/>
          <p:cNvSpPr/>
          <p:nvPr/>
        </p:nvSpPr>
        <p:spPr>
          <a:xfrm>
            <a:off x="0" y="4937760"/>
            <a:ext cx="9144000" cy="0"/>
          </a:xfrm>
          <a:prstGeom prst="line">
            <a:avLst/>
          </a:prstGeom>
          <a:noFill/>
          <a:ln w="3175">
            <a:solidFill>
              <a:srgbClr val="FFFFFF">
                <a:alpha val="10000"/>
              </a:srgbClr>
            </a:solidFill>
            <a:prstDash val="solid"/>
          </a:ln>
        </p:spPr>
      </p:sp>
      <p:sp>
        <p:nvSpPr>
          <p:cNvPr id="20" name="Shape 18"/>
          <p:cNvSpPr/>
          <p:nvPr/>
        </p:nvSpPr>
        <p:spPr>
          <a:xfrm>
            <a:off x="7132320" y="-548640"/>
            <a:ext cx="2926080" cy="2926080"/>
          </a:xfrm>
          <a:prstGeom prst="line">
            <a:avLst/>
          </a:prstGeom>
          <a:solidFill>
            <a:srgbClr val="1E2761">
              <a:alpha val="60000"/>
            </a:srgbClr>
          </a:solidFill>
          <a:ln w="12700">
            <a:solidFill>
              <a:srgbClr val="3B4F9C"/>
            </a:solidFill>
            <a:prstDash val="solid"/>
          </a:ln>
        </p:spPr>
      </p:sp>
      <p:sp>
        <p:nvSpPr>
          <p:cNvPr id="21" name="Shape 19"/>
          <p:cNvSpPr/>
          <p:nvPr/>
        </p:nvSpPr>
        <p:spPr>
          <a:xfrm>
            <a:off x="594360" y="1371600"/>
            <a:ext cx="1645920" cy="228600"/>
          </a:xfrm>
          <a:prstGeom prst="rect">
            <a:avLst/>
          </a:prstGeom>
          <a:solidFill>
            <a:srgbClr val="3B4F9C"/>
          </a:solidFill>
          <a:ln w="12700">
            <a:solidFill>
              <a:srgbClr val="3B4F9C"/>
            </a:solidFill>
            <a:prstDash val="solid"/>
          </a:ln>
        </p:spPr>
      </p:sp>
      <p:sp>
        <p:nvSpPr>
          <p:cNvPr id="22" name="Text 20"/>
          <p:cNvSpPr/>
          <p:nvPr/>
        </p:nvSpPr>
        <p:spPr>
          <a:xfrm>
            <a:off x="594360" y="1380744"/>
            <a:ext cx="1645920" cy="228600"/>
          </a:xfrm>
          <a:prstGeom prst="rect">
            <a:avLst/>
          </a:prstGeom>
          <a:noFill/>
          <a:ln/>
        </p:spPr>
        <p:txBody>
          <a:bodyPr wrap="square" lIns="0" tIns="0" rIns="0" bIns="0" rtlCol="0" anchor="ctr"/>
          <a:lstStyle/>
          <a:p>
            <a:pPr marL="0" indent="0" algn="ctr">
              <a:buNone/>
            </a:pPr>
            <a:r>
              <a:rPr lang="en-US" sz="750" b="1" kern="0" spc="200" dirty="0">
                <a:solidFill>
                  <a:srgbClr val="CADCFC"/>
                </a:solidFill>
              </a:rPr>
              <a:t>KAGGLE CAPSTONE</a:t>
            </a:r>
            <a:endParaRPr lang="en-US" sz="750" dirty="0"/>
          </a:p>
        </p:txBody>
      </p:sp>
      <p:sp>
        <p:nvSpPr>
          <p:cNvPr id="23" name="Text 21"/>
          <p:cNvSpPr/>
          <p:nvPr/>
        </p:nvSpPr>
        <p:spPr>
          <a:xfrm>
            <a:off x="594360" y="1719072"/>
            <a:ext cx="7315200" cy="777240"/>
          </a:xfrm>
          <a:prstGeom prst="rect">
            <a:avLst/>
          </a:prstGeom>
          <a:noFill/>
          <a:ln/>
        </p:spPr>
        <p:txBody>
          <a:bodyPr wrap="square" lIns="0" tIns="0" rIns="0" bIns="0" rtlCol="0" anchor="ctr"/>
          <a:lstStyle/>
          <a:p>
            <a:pPr marL="0" indent="0">
              <a:buNone/>
            </a:pPr>
            <a:r>
              <a:rPr lang="en-US" sz="5000" b="1" dirty="0">
                <a:solidFill>
                  <a:srgbClr val="FFFFFF"/>
                </a:solidFill>
              </a:rPr>
              <a:t>Disaster Relief</a:t>
            </a:r>
            <a:endParaRPr lang="en-US" sz="5000" dirty="0"/>
          </a:p>
        </p:txBody>
      </p:sp>
      <p:sp>
        <p:nvSpPr>
          <p:cNvPr id="24" name="Text 22"/>
          <p:cNvSpPr/>
          <p:nvPr/>
        </p:nvSpPr>
        <p:spPr>
          <a:xfrm>
            <a:off x="594360" y="2450592"/>
            <a:ext cx="7315200" cy="777240"/>
          </a:xfrm>
          <a:prstGeom prst="rect">
            <a:avLst/>
          </a:prstGeom>
          <a:noFill/>
          <a:ln/>
        </p:spPr>
        <p:txBody>
          <a:bodyPr wrap="square" lIns="0" tIns="0" rIns="0" bIns="0" rtlCol="0" anchor="ctr"/>
          <a:lstStyle/>
          <a:p>
            <a:pPr marL="0" indent="0">
              <a:buNone/>
            </a:pPr>
            <a:r>
              <a:rPr lang="en-US" sz="5000" b="1" dirty="0">
                <a:solidFill>
                  <a:srgbClr val="CADCFC"/>
                </a:solidFill>
              </a:rPr>
              <a:t>Logistics Router</a:t>
            </a:r>
            <a:endParaRPr lang="en-US" sz="5000" dirty="0"/>
          </a:p>
        </p:txBody>
      </p:sp>
      <p:sp>
        <p:nvSpPr>
          <p:cNvPr id="25" name="Text 23"/>
          <p:cNvSpPr/>
          <p:nvPr/>
        </p:nvSpPr>
        <p:spPr>
          <a:xfrm>
            <a:off x="594360" y="3310128"/>
            <a:ext cx="6400800" cy="320040"/>
          </a:xfrm>
          <a:prstGeom prst="rect">
            <a:avLst/>
          </a:prstGeom>
          <a:noFill/>
          <a:ln/>
        </p:spPr>
        <p:txBody>
          <a:bodyPr wrap="square" lIns="0" tIns="0" rIns="0" bIns="0" rtlCol="0" anchor="ctr"/>
          <a:lstStyle/>
          <a:p>
            <a:pPr marL="0" indent="0">
              <a:buNone/>
            </a:pPr>
            <a:r>
              <a:rPr lang="en-US" sz="1400" dirty="0">
                <a:solidFill>
                  <a:srgbClr val="8BA3D4"/>
                </a:solidFill>
              </a:rPr>
              <a:t>AI-Powered Multi-Agent Emergency Coordination System</a:t>
            </a:r>
            <a:endParaRPr lang="en-US" sz="1400" dirty="0"/>
          </a:p>
        </p:txBody>
      </p:sp>
      <p:sp>
        <p:nvSpPr>
          <p:cNvPr id="26" name="Shape 24"/>
          <p:cNvSpPr/>
          <p:nvPr/>
        </p:nvSpPr>
        <p:spPr>
          <a:xfrm>
            <a:off x="0" y="4754880"/>
            <a:ext cx="9144000" cy="388620"/>
          </a:xfrm>
          <a:prstGeom prst="rect">
            <a:avLst/>
          </a:prstGeom>
          <a:solidFill>
            <a:srgbClr val="0D1A3F"/>
          </a:solidFill>
          <a:ln w="12700">
            <a:solidFill>
              <a:srgbClr val="0D1A3F"/>
            </a:solidFill>
            <a:prstDash val="solid"/>
          </a:ln>
        </p:spPr>
      </p:sp>
      <p:sp>
        <p:nvSpPr>
          <p:cNvPr id="27" name="Text 25"/>
          <p:cNvSpPr/>
          <p:nvPr/>
        </p:nvSpPr>
        <p:spPr>
          <a:xfrm>
            <a:off x="594360" y="4773168"/>
            <a:ext cx="5486400" cy="320040"/>
          </a:xfrm>
          <a:prstGeom prst="rect">
            <a:avLst/>
          </a:prstGeom>
          <a:noFill/>
          <a:ln/>
        </p:spPr>
        <p:txBody>
          <a:bodyPr wrap="square" lIns="0" tIns="0" rIns="0" bIns="0" rtlCol="0" anchor="ctr"/>
          <a:lstStyle/>
          <a:p>
            <a:pPr marL="0" indent="0">
              <a:buNone/>
            </a:pPr>
            <a:r>
              <a:rPr lang="en-US" sz="950" dirty="0">
                <a:solidFill>
                  <a:srgbClr val="4E6FA3"/>
                </a:solidFill>
              </a:rPr>
              <a:t>Google AI Agents Kaggle Capstone  ·  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818388" cy="256032"/>
          </a:xfrm>
          <a:prstGeom prst="rect">
            <a:avLst/>
          </a:prstGeom>
          <a:solidFill>
            <a:srgbClr val="1E2761"/>
          </a:solidFill>
          <a:ln w="12700">
            <a:solidFill>
              <a:srgbClr val="1E2761"/>
            </a:solidFill>
            <a:prstDash val="solid"/>
          </a:ln>
        </p:spPr>
      </p:sp>
      <p:sp>
        <p:nvSpPr>
          <p:cNvPr id="3" name="Text 1"/>
          <p:cNvSpPr/>
          <p:nvPr/>
        </p:nvSpPr>
        <p:spPr>
          <a:xfrm>
            <a:off x="548640" y="393192"/>
            <a:ext cx="2286000" cy="256032"/>
          </a:xfrm>
          <a:prstGeom prst="rect">
            <a:avLst/>
          </a:prstGeom>
          <a:noFill/>
          <a:ln/>
        </p:spPr>
        <p:txBody>
          <a:bodyPr wrap="square" lIns="0" tIns="76200" rIns="0" bIns="0" rtlCol="0" anchor="ctr"/>
          <a:lstStyle/>
          <a:p>
            <a:pPr marL="0" indent="0">
              <a:buNone/>
            </a:pPr>
            <a:r>
              <a:rPr lang="en-US" sz="800" b="1" kern="0" spc="200" dirty="0">
                <a:solidFill>
                  <a:srgbClr val="FFFFFF"/>
                </a:solidFill>
              </a:rPr>
              <a:t>PROBLEM</a:t>
            </a:r>
            <a:endParaRPr lang="en-US" sz="800" dirty="0"/>
          </a:p>
        </p:txBody>
      </p:sp>
      <p:sp>
        <p:nvSpPr>
          <p:cNvPr id="4" name="Text 2"/>
          <p:cNvSpPr/>
          <p:nvPr/>
        </p:nvSpPr>
        <p:spPr>
          <a:xfrm>
            <a:off x="548640" y="694944"/>
            <a:ext cx="8046720" cy="566928"/>
          </a:xfrm>
          <a:prstGeom prst="rect">
            <a:avLst/>
          </a:prstGeom>
          <a:noFill/>
          <a:ln/>
        </p:spPr>
        <p:txBody>
          <a:bodyPr wrap="square" lIns="0" tIns="0" rIns="0" bIns="0" rtlCol="0" anchor="ctr"/>
          <a:lstStyle/>
          <a:p>
            <a:pPr marL="0" indent="0">
              <a:buNone/>
            </a:pPr>
            <a:r>
              <a:rPr lang="en-US" sz="3000" b="1" dirty="0">
                <a:solidFill>
                  <a:srgbClr val="1E293B"/>
                </a:solidFill>
              </a:rPr>
              <a:t>Disaster response coordination is broken.</a:t>
            </a:r>
            <a:endParaRPr lang="en-US" sz="3000" dirty="0"/>
          </a:p>
        </p:txBody>
      </p:sp>
      <p:sp>
        <p:nvSpPr>
          <p:cNvPr id="5" name="Text 3"/>
          <p:cNvSpPr/>
          <p:nvPr/>
        </p:nvSpPr>
        <p:spPr>
          <a:xfrm>
            <a:off x="548640" y="1234440"/>
            <a:ext cx="5486400" cy="320040"/>
          </a:xfrm>
          <a:prstGeom prst="rect">
            <a:avLst/>
          </a:prstGeom>
          <a:noFill/>
          <a:ln/>
        </p:spPr>
        <p:txBody>
          <a:bodyPr wrap="square" lIns="0" tIns="0" rIns="0" bIns="0" rtlCol="0" anchor="ctr"/>
          <a:lstStyle/>
          <a:p>
            <a:pPr marL="0" indent="0">
              <a:buNone/>
            </a:pPr>
            <a:r>
              <a:rPr lang="en-US" sz="1600" i="1" dirty="0">
                <a:solidFill>
                  <a:srgbClr val="64748B"/>
                </a:solidFill>
              </a:rPr>
              <a:t>Every hour of delay costs lives.</a:t>
            </a:r>
            <a:endParaRPr lang="en-US" sz="1600" dirty="0"/>
          </a:p>
        </p:txBody>
      </p:sp>
      <p:sp>
        <p:nvSpPr>
          <p:cNvPr id="6" name="Text 4"/>
          <p:cNvSpPr/>
          <p:nvPr/>
        </p:nvSpPr>
        <p:spPr>
          <a:xfrm>
            <a:off x="548640" y="1783080"/>
            <a:ext cx="2011680" cy="685800"/>
          </a:xfrm>
          <a:prstGeom prst="rect">
            <a:avLst/>
          </a:prstGeom>
          <a:noFill/>
          <a:ln/>
        </p:spPr>
        <p:txBody>
          <a:bodyPr wrap="square" lIns="0" tIns="0" rIns="0" bIns="0" rtlCol="0" anchor="ctr"/>
          <a:lstStyle/>
          <a:p>
            <a:pPr marL="0" indent="0" algn="ctr">
              <a:buNone/>
            </a:pPr>
            <a:r>
              <a:rPr lang="en-US" sz="4000" b="1" dirty="0">
                <a:solidFill>
                  <a:srgbClr val="1E2761"/>
                </a:solidFill>
              </a:rPr>
              <a:t>72 hrs</a:t>
            </a:r>
            <a:endParaRPr lang="en-US" sz="4000" dirty="0"/>
          </a:p>
        </p:txBody>
      </p:sp>
      <p:sp>
        <p:nvSpPr>
          <p:cNvPr id="7" name="Text 5"/>
          <p:cNvSpPr/>
          <p:nvPr/>
        </p:nvSpPr>
        <p:spPr>
          <a:xfrm>
            <a:off x="548640" y="2441448"/>
            <a:ext cx="2011680" cy="274320"/>
          </a:xfrm>
          <a:prstGeom prst="rect">
            <a:avLst/>
          </a:prstGeom>
          <a:noFill/>
          <a:ln/>
        </p:spPr>
        <p:txBody>
          <a:bodyPr wrap="square" lIns="0" tIns="0" rIns="0" bIns="0" rtlCol="0" anchor="ctr"/>
          <a:lstStyle/>
          <a:p>
            <a:pPr marL="0" indent="0" algn="ctr">
              <a:buNone/>
            </a:pPr>
            <a:r>
              <a:rPr lang="en-US" sz="1050" dirty="0">
                <a:solidFill>
                  <a:srgbClr val="64748B"/>
                </a:solidFill>
              </a:rPr>
              <a:t>Average response</a:t>
            </a:r>
            <a:endParaRPr lang="en-US" sz="1050" dirty="0"/>
          </a:p>
          <a:p>
            <a:pPr marL="0" indent="0" algn="ctr">
              <a:buNone/>
            </a:pPr>
            <a:r>
              <a:rPr lang="en-US" sz="1050" dirty="0">
                <a:solidFill>
                  <a:srgbClr val="64748B"/>
                </a:solidFill>
              </a:rPr>
              <a:t>lag in major floods</a:t>
            </a:r>
            <a:endParaRPr lang="en-US" sz="1050" dirty="0"/>
          </a:p>
        </p:txBody>
      </p:sp>
      <p:sp>
        <p:nvSpPr>
          <p:cNvPr id="8" name="Text 6"/>
          <p:cNvSpPr/>
          <p:nvPr/>
        </p:nvSpPr>
        <p:spPr>
          <a:xfrm>
            <a:off x="3383280" y="1783080"/>
            <a:ext cx="2011680" cy="685800"/>
          </a:xfrm>
          <a:prstGeom prst="rect">
            <a:avLst/>
          </a:prstGeom>
          <a:noFill/>
          <a:ln/>
        </p:spPr>
        <p:txBody>
          <a:bodyPr wrap="square" lIns="0" tIns="0" rIns="0" bIns="0" rtlCol="0" anchor="ctr"/>
          <a:lstStyle/>
          <a:p>
            <a:pPr marL="0" indent="0" algn="ctr">
              <a:buNone/>
            </a:pPr>
            <a:r>
              <a:rPr lang="en-US" sz="4000" b="1" dirty="0">
                <a:solidFill>
                  <a:srgbClr val="1E2761"/>
                </a:solidFill>
              </a:rPr>
              <a:t>40%</a:t>
            </a:r>
            <a:endParaRPr lang="en-US" sz="4000" dirty="0"/>
          </a:p>
        </p:txBody>
      </p:sp>
      <p:sp>
        <p:nvSpPr>
          <p:cNvPr id="9" name="Text 7"/>
          <p:cNvSpPr/>
          <p:nvPr/>
        </p:nvSpPr>
        <p:spPr>
          <a:xfrm>
            <a:off x="3383280" y="2441448"/>
            <a:ext cx="2011680" cy="274320"/>
          </a:xfrm>
          <a:prstGeom prst="rect">
            <a:avLst/>
          </a:prstGeom>
          <a:noFill/>
          <a:ln/>
        </p:spPr>
        <p:txBody>
          <a:bodyPr wrap="square" lIns="0" tIns="0" rIns="0" bIns="0" rtlCol="0" anchor="ctr"/>
          <a:lstStyle/>
          <a:p>
            <a:pPr marL="0" indent="0" algn="ctr">
              <a:buNone/>
            </a:pPr>
            <a:r>
              <a:rPr lang="en-US" sz="1050" dirty="0">
                <a:solidFill>
                  <a:srgbClr val="64748B"/>
                </a:solidFill>
              </a:rPr>
              <a:t>Resources misallocated</a:t>
            </a:r>
            <a:endParaRPr lang="en-US" sz="1050" dirty="0"/>
          </a:p>
          <a:p>
            <a:pPr marL="0" indent="0" algn="ctr">
              <a:buNone/>
            </a:pPr>
            <a:r>
              <a:rPr lang="en-US" sz="1050" dirty="0">
                <a:solidFill>
                  <a:srgbClr val="64748B"/>
                </a:solidFill>
              </a:rPr>
              <a:t>due to poor routing</a:t>
            </a:r>
            <a:endParaRPr lang="en-US" sz="1050" dirty="0"/>
          </a:p>
        </p:txBody>
      </p:sp>
      <p:sp>
        <p:nvSpPr>
          <p:cNvPr id="10" name="Text 8"/>
          <p:cNvSpPr/>
          <p:nvPr/>
        </p:nvSpPr>
        <p:spPr>
          <a:xfrm>
            <a:off x="6217920" y="1783080"/>
            <a:ext cx="2011680" cy="685800"/>
          </a:xfrm>
          <a:prstGeom prst="rect">
            <a:avLst/>
          </a:prstGeom>
          <a:noFill/>
          <a:ln/>
        </p:spPr>
        <p:txBody>
          <a:bodyPr wrap="square" lIns="0" tIns="0" rIns="0" bIns="0" rtlCol="0" anchor="ctr"/>
          <a:lstStyle/>
          <a:p>
            <a:pPr marL="0" indent="0" algn="ctr">
              <a:buNone/>
            </a:pPr>
            <a:r>
              <a:rPr lang="en-US" sz="4000" b="1" dirty="0">
                <a:solidFill>
                  <a:srgbClr val="1E2761"/>
                </a:solidFill>
              </a:rPr>
              <a:t>6 tools</a:t>
            </a:r>
            <a:endParaRPr lang="en-US" sz="4000" dirty="0"/>
          </a:p>
        </p:txBody>
      </p:sp>
      <p:sp>
        <p:nvSpPr>
          <p:cNvPr id="11" name="Text 9"/>
          <p:cNvSpPr/>
          <p:nvPr/>
        </p:nvSpPr>
        <p:spPr>
          <a:xfrm>
            <a:off x="6217920" y="2441448"/>
            <a:ext cx="2011680" cy="274320"/>
          </a:xfrm>
          <a:prstGeom prst="rect">
            <a:avLst/>
          </a:prstGeom>
          <a:noFill/>
          <a:ln/>
        </p:spPr>
        <p:txBody>
          <a:bodyPr wrap="square" lIns="0" tIns="0" rIns="0" bIns="0" rtlCol="0" anchor="ctr"/>
          <a:lstStyle/>
          <a:p>
            <a:pPr marL="0" indent="0" algn="ctr">
              <a:buNone/>
            </a:pPr>
            <a:r>
              <a:rPr lang="en-US" sz="1050" dirty="0">
                <a:solidFill>
                  <a:srgbClr val="64748B"/>
                </a:solidFill>
              </a:rPr>
              <a:t>Coordinators juggle</a:t>
            </a:r>
            <a:endParaRPr lang="en-US" sz="1050" dirty="0"/>
          </a:p>
          <a:p>
            <a:pPr marL="0" indent="0" algn="ctr">
              <a:buNone/>
            </a:pPr>
            <a:r>
              <a:rPr lang="en-US" sz="1050" dirty="0">
                <a:solidFill>
                  <a:srgbClr val="64748B"/>
                </a:solidFill>
              </a:rPr>
              <a:t>to manage one event</a:t>
            </a:r>
            <a:endParaRPr lang="en-US" sz="1050" dirty="0"/>
          </a:p>
        </p:txBody>
      </p:sp>
      <p:sp>
        <p:nvSpPr>
          <p:cNvPr id="12" name="Text 10"/>
          <p:cNvSpPr/>
          <p:nvPr/>
        </p:nvSpPr>
        <p:spPr>
          <a:xfrm>
            <a:off x="548640" y="3017520"/>
            <a:ext cx="8046720" cy="1645920"/>
          </a:xfrm>
          <a:prstGeom prst="rect">
            <a:avLst/>
          </a:prstGeom>
          <a:noFill/>
          <a:ln/>
        </p:spPr>
        <p:txBody>
          <a:bodyPr wrap="square" rtlCol="0" anchor="ctr"/>
          <a:lstStyle/>
          <a:p>
            <a:pPr marL="342900" indent="-342900">
              <a:spcAft>
                <a:spcPts val="400"/>
              </a:spcAft>
              <a:buSzPct val="100000"/>
              <a:buChar char="•"/>
            </a:pPr>
            <a:r>
              <a:rPr lang="en-US" sz="1200" dirty="0">
                <a:solidFill>
                  <a:srgbClr val="1E293B"/>
                </a:solidFill>
              </a:rPr>
              <a:t>Manual intake: incident reports arrive via phone, SMS, and email simultaneously</a:t>
            </a:r>
            <a:endParaRPr lang="en-US" sz="1200" dirty="0"/>
          </a:p>
          <a:p>
            <a:pPr marL="342900" indent="-342900">
              <a:spcAft>
                <a:spcPts val="400"/>
              </a:spcAft>
              <a:buSzPct val="100000"/>
              <a:buChar char="•"/>
            </a:pPr>
            <a:r>
              <a:rPr lang="en-US" sz="1200" dirty="0">
                <a:solidFill>
                  <a:srgbClr val="1E293B"/>
                </a:solidFill>
              </a:rPr>
              <a:t>No real-time severity triage — human operators overwhelmed within minutes</a:t>
            </a:r>
            <a:endParaRPr lang="en-US" sz="1200" dirty="0"/>
          </a:p>
          <a:p>
            <a:pPr marL="342900" indent="-342900">
              <a:spcAft>
                <a:spcPts val="400"/>
              </a:spcAft>
              <a:buSzPct val="100000"/>
              <a:buChar char="•"/>
            </a:pPr>
            <a:r>
              <a:rPr lang="en-US" sz="1200" dirty="0">
                <a:solidFill>
                  <a:srgbClr val="1E293B"/>
                </a:solidFill>
              </a:rPr>
              <a:t>Resource allocation is reactive, not predictive</a:t>
            </a:r>
            <a:endParaRPr lang="en-US" sz="1200" dirty="0"/>
          </a:p>
          <a:p>
            <a:pPr marL="342900" indent="-342900">
              <a:spcAft>
                <a:spcPts val="400"/>
              </a:spcAft>
              <a:buSzPct val="100000"/>
              <a:buChar char="•"/>
            </a:pPr>
            <a:r>
              <a:rPr lang="en-US" sz="1200" dirty="0">
                <a:solidFill>
                  <a:srgbClr val="1E293B"/>
                </a:solidFill>
              </a:rPr>
              <a:t>Notification delays mean teams act on stale information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896112" cy="256032"/>
          </a:xfrm>
          <a:prstGeom prst="rect">
            <a:avLst/>
          </a:prstGeom>
          <a:solidFill>
            <a:srgbClr val="1E2761"/>
          </a:solidFill>
          <a:ln w="12700">
            <a:solidFill>
              <a:srgbClr val="1E2761"/>
            </a:solidFill>
            <a:prstDash val="solid"/>
          </a:ln>
        </p:spPr>
      </p:sp>
      <p:sp>
        <p:nvSpPr>
          <p:cNvPr id="3" name="Text 1"/>
          <p:cNvSpPr/>
          <p:nvPr/>
        </p:nvSpPr>
        <p:spPr>
          <a:xfrm>
            <a:off x="548640" y="393192"/>
            <a:ext cx="2286000" cy="256032"/>
          </a:xfrm>
          <a:prstGeom prst="rect">
            <a:avLst/>
          </a:prstGeom>
          <a:noFill/>
          <a:ln/>
        </p:spPr>
        <p:txBody>
          <a:bodyPr wrap="square" lIns="0" tIns="76200" rIns="0" bIns="0" rtlCol="0" anchor="ctr"/>
          <a:lstStyle/>
          <a:p>
            <a:pPr marL="0" indent="0">
              <a:buNone/>
            </a:pPr>
            <a:r>
              <a:rPr lang="en-US" sz="800" b="1" kern="0" spc="200" dirty="0">
                <a:solidFill>
                  <a:srgbClr val="FFFFFF"/>
                </a:solidFill>
              </a:rPr>
              <a:t>SOLUTION</a:t>
            </a:r>
            <a:endParaRPr lang="en-US" sz="800" dirty="0"/>
          </a:p>
        </p:txBody>
      </p:sp>
      <p:sp>
        <p:nvSpPr>
          <p:cNvPr id="4" name="Text 2"/>
          <p:cNvSpPr/>
          <p:nvPr/>
        </p:nvSpPr>
        <p:spPr>
          <a:xfrm>
            <a:off x="548640" y="694944"/>
            <a:ext cx="8046720" cy="594360"/>
          </a:xfrm>
          <a:prstGeom prst="rect">
            <a:avLst/>
          </a:prstGeom>
          <a:noFill/>
          <a:ln/>
        </p:spPr>
        <p:txBody>
          <a:bodyPr wrap="square" lIns="0" tIns="0" rIns="0" bIns="0" rtlCol="0" anchor="ctr"/>
          <a:lstStyle/>
          <a:p>
            <a:pPr marL="0" indent="0">
              <a:buNone/>
            </a:pPr>
            <a:r>
              <a:rPr lang="en-US" sz="2800" b="1" dirty="0">
                <a:solidFill>
                  <a:srgbClr val="1E293B"/>
                </a:solidFill>
              </a:rPr>
              <a:t>One system. Six agents. Seconds, not hours.</a:t>
            </a:r>
            <a:endParaRPr lang="en-US" sz="2800" dirty="0"/>
          </a:p>
        </p:txBody>
      </p:sp>
      <p:sp>
        <p:nvSpPr>
          <p:cNvPr id="7" name="Text 5"/>
          <p:cNvSpPr/>
          <p:nvPr/>
        </p:nvSpPr>
        <p:spPr>
          <a:xfrm>
            <a:off x="932688" y="1508760"/>
            <a:ext cx="3840480" cy="237744"/>
          </a:xfrm>
          <a:prstGeom prst="rect">
            <a:avLst/>
          </a:prstGeom>
          <a:noFill/>
          <a:ln/>
        </p:spPr>
        <p:txBody>
          <a:bodyPr wrap="square" lIns="0" tIns="0" rIns="0" bIns="0" rtlCol="0" anchor="ctr"/>
          <a:lstStyle/>
          <a:p>
            <a:pPr marL="0" indent="0">
              <a:buNone/>
            </a:pPr>
            <a:r>
              <a:rPr lang="en-US" sz="1200" b="1" dirty="0">
                <a:solidFill>
                  <a:srgbClr val="1E293B"/>
                </a:solidFill>
              </a:rPr>
              <a:t>Submit incident</a:t>
            </a:r>
            <a:endParaRPr lang="en-US" sz="1200" dirty="0"/>
          </a:p>
        </p:txBody>
      </p:sp>
      <p:sp>
        <p:nvSpPr>
          <p:cNvPr id="8" name="Text 6"/>
          <p:cNvSpPr/>
          <p:nvPr/>
        </p:nvSpPr>
        <p:spPr>
          <a:xfrm>
            <a:off x="932688" y="1764792"/>
            <a:ext cx="3840480" cy="256032"/>
          </a:xfrm>
          <a:prstGeom prst="rect">
            <a:avLst/>
          </a:prstGeom>
          <a:noFill/>
          <a:ln/>
        </p:spPr>
        <p:txBody>
          <a:bodyPr wrap="square" lIns="0" tIns="0" rIns="0" bIns="0" rtlCol="0" anchor="ctr"/>
          <a:lstStyle/>
          <a:p>
            <a:pPr marL="0" indent="0">
              <a:buNone/>
            </a:pPr>
            <a:r>
              <a:rPr lang="en-US" sz="1000" dirty="0">
                <a:solidFill>
                  <a:srgbClr val="64748B"/>
                </a:solidFill>
              </a:rPr>
              <a:t>Operator describes the event in plain text</a:t>
            </a:r>
            <a:endParaRPr lang="en-US" sz="1000" dirty="0"/>
          </a:p>
        </p:txBody>
      </p:sp>
      <p:sp>
        <p:nvSpPr>
          <p:cNvPr id="11" name="Text 9"/>
          <p:cNvSpPr/>
          <p:nvPr/>
        </p:nvSpPr>
        <p:spPr>
          <a:xfrm>
            <a:off x="932688" y="2167128"/>
            <a:ext cx="3840480" cy="237744"/>
          </a:xfrm>
          <a:prstGeom prst="rect">
            <a:avLst/>
          </a:prstGeom>
          <a:noFill/>
          <a:ln/>
        </p:spPr>
        <p:txBody>
          <a:bodyPr wrap="square" lIns="0" tIns="0" rIns="0" bIns="0" rtlCol="0" anchor="ctr"/>
          <a:lstStyle/>
          <a:p>
            <a:pPr marL="0" indent="0">
              <a:buNone/>
            </a:pPr>
            <a:r>
              <a:rPr lang="en-US" sz="1200" b="1" dirty="0">
                <a:solidFill>
                  <a:srgbClr val="1E293B"/>
                </a:solidFill>
              </a:rPr>
              <a:t>AI triage</a:t>
            </a:r>
            <a:endParaRPr lang="en-US" sz="1200" dirty="0"/>
          </a:p>
        </p:txBody>
      </p:sp>
      <p:sp>
        <p:nvSpPr>
          <p:cNvPr id="12" name="Text 10"/>
          <p:cNvSpPr/>
          <p:nvPr/>
        </p:nvSpPr>
        <p:spPr>
          <a:xfrm>
            <a:off x="932688" y="2423160"/>
            <a:ext cx="3840480" cy="256032"/>
          </a:xfrm>
          <a:prstGeom prst="rect">
            <a:avLst/>
          </a:prstGeom>
          <a:noFill/>
          <a:ln/>
        </p:spPr>
        <p:txBody>
          <a:bodyPr wrap="square" lIns="0" tIns="0" rIns="0" bIns="0" rtlCol="0" anchor="ctr"/>
          <a:lstStyle/>
          <a:p>
            <a:pPr marL="0" indent="0">
              <a:buNone/>
            </a:pPr>
            <a:r>
              <a:rPr lang="en-US" sz="1000" dirty="0">
                <a:solidFill>
                  <a:srgbClr val="64748B"/>
                </a:solidFill>
              </a:rPr>
              <a:t>Six specialized agents process in sequence</a:t>
            </a:r>
            <a:endParaRPr lang="en-US" sz="1000" dirty="0"/>
          </a:p>
        </p:txBody>
      </p:sp>
      <p:sp>
        <p:nvSpPr>
          <p:cNvPr id="15" name="Text 13"/>
          <p:cNvSpPr/>
          <p:nvPr/>
        </p:nvSpPr>
        <p:spPr>
          <a:xfrm>
            <a:off x="932688" y="2825496"/>
            <a:ext cx="3840480" cy="237744"/>
          </a:xfrm>
          <a:prstGeom prst="rect">
            <a:avLst/>
          </a:prstGeom>
          <a:noFill/>
          <a:ln/>
        </p:spPr>
        <p:txBody>
          <a:bodyPr wrap="square" lIns="0" tIns="0" rIns="0" bIns="0" rtlCol="0" anchor="ctr"/>
          <a:lstStyle/>
          <a:p>
            <a:pPr marL="0" indent="0">
              <a:buNone/>
            </a:pPr>
            <a:r>
              <a:rPr lang="en-US" sz="1200" b="1" dirty="0">
                <a:solidFill>
                  <a:srgbClr val="1E293B"/>
                </a:solidFill>
              </a:rPr>
              <a:t>Live dashboard</a:t>
            </a:r>
            <a:endParaRPr lang="en-US" sz="1200" dirty="0"/>
          </a:p>
        </p:txBody>
      </p:sp>
      <p:sp>
        <p:nvSpPr>
          <p:cNvPr id="16" name="Text 14"/>
          <p:cNvSpPr/>
          <p:nvPr/>
        </p:nvSpPr>
        <p:spPr>
          <a:xfrm>
            <a:off x="932688" y="3081528"/>
            <a:ext cx="3840480" cy="256032"/>
          </a:xfrm>
          <a:prstGeom prst="rect">
            <a:avLst/>
          </a:prstGeom>
          <a:noFill/>
          <a:ln/>
        </p:spPr>
        <p:txBody>
          <a:bodyPr wrap="square" lIns="0" tIns="0" rIns="0" bIns="0" rtlCol="0" anchor="ctr"/>
          <a:lstStyle/>
          <a:p>
            <a:pPr marL="0" indent="0">
              <a:buNone/>
            </a:pPr>
            <a:r>
              <a:rPr lang="en-US" sz="1000" dirty="0">
                <a:solidFill>
                  <a:srgbClr val="64748B"/>
                </a:solidFill>
              </a:rPr>
              <a:t>Results surface instantly — severity, resources, alerts</a:t>
            </a:r>
            <a:endParaRPr lang="en-US" sz="1000" dirty="0"/>
          </a:p>
        </p:txBody>
      </p:sp>
      <p:sp>
        <p:nvSpPr>
          <p:cNvPr id="19" name="Text 17"/>
          <p:cNvSpPr/>
          <p:nvPr/>
        </p:nvSpPr>
        <p:spPr>
          <a:xfrm>
            <a:off x="932688" y="3483864"/>
            <a:ext cx="3840480" cy="237744"/>
          </a:xfrm>
          <a:prstGeom prst="rect">
            <a:avLst/>
          </a:prstGeom>
          <a:noFill/>
          <a:ln/>
        </p:spPr>
        <p:txBody>
          <a:bodyPr wrap="square" lIns="0" tIns="0" rIns="0" bIns="0" rtlCol="0" anchor="ctr"/>
          <a:lstStyle/>
          <a:p>
            <a:pPr marL="0" indent="0">
              <a:buNone/>
            </a:pPr>
            <a:r>
              <a:rPr lang="en-US" sz="1200" b="1" dirty="0">
                <a:solidFill>
                  <a:srgbClr val="1E293B"/>
                </a:solidFill>
              </a:rPr>
              <a:t>Real backend</a:t>
            </a:r>
            <a:endParaRPr lang="en-US" sz="1200" dirty="0"/>
          </a:p>
        </p:txBody>
      </p:sp>
      <p:sp>
        <p:nvSpPr>
          <p:cNvPr id="20" name="Text 18"/>
          <p:cNvSpPr/>
          <p:nvPr/>
        </p:nvSpPr>
        <p:spPr>
          <a:xfrm>
            <a:off x="932688" y="3739896"/>
            <a:ext cx="3840480" cy="256032"/>
          </a:xfrm>
          <a:prstGeom prst="rect">
            <a:avLst/>
          </a:prstGeom>
          <a:noFill/>
          <a:ln/>
        </p:spPr>
        <p:txBody>
          <a:bodyPr wrap="square" lIns="0" tIns="0" rIns="0" bIns="0" rtlCol="0" anchor="ctr"/>
          <a:lstStyle/>
          <a:p>
            <a:pPr marL="0" indent="0">
              <a:buNone/>
            </a:pPr>
            <a:r>
              <a:rPr lang="en-US" sz="1000" dirty="0">
                <a:solidFill>
                  <a:srgbClr val="64748B"/>
                </a:solidFill>
              </a:rPr>
              <a:t>FastAPI + Python, not a mock — every step executes</a:t>
            </a:r>
            <a:endParaRPr lang="en-US" sz="1000" dirty="0"/>
          </a:p>
        </p:txBody>
      </p:sp>
      <p:sp>
        <p:nvSpPr>
          <p:cNvPr id="26" name="Text 24"/>
          <p:cNvSpPr/>
          <p:nvPr/>
        </p:nvSpPr>
        <p:spPr>
          <a:xfrm>
            <a:off x="4705551" y="1465085"/>
            <a:ext cx="3657600" cy="3182112"/>
          </a:xfrm>
          <a:prstGeom prst="rect">
            <a:avLst/>
          </a:prstGeom>
          <a:noFill/>
          <a:ln/>
        </p:spPr>
        <p:txBody>
          <a:bodyPr wrap="square" lIns="0" tIns="0" rIns="0" bIns="0" rtlCol="0" anchor="ctr"/>
          <a:lstStyle/>
          <a:p>
            <a:pPr marL="0" indent="0" algn="ctr">
              <a:buNone/>
            </a:pPr>
            <a:r>
              <a:rPr lang="en-US" sz="1000" i="1" dirty="0">
                <a:solidFill>
                  <a:srgbClr val="475569"/>
                </a:solidFill>
              </a:rPr>
              <a:t>[ Insert: Dashboard overview screenshot ]</a:t>
            </a:r>
            <a:endParaRPr lang="en-US" sz="1000" dirty="0"/>
          </a:p>
        </p:txBody>
      </p:sp>
      <p:sp>
        <p:nvSpPr>
          <p:cNvPr id="27" name="Oval 26">
            <a:extLst>
              <a:ext uri="{FF2B5EF4-FFF2-40B4-BE49-F238E27FC236}">
                <a16:creationId xmlns:a16="http://schemas.microsoft.com/office/drawing/2014/main" id="{5B7441C3-140F-FC86-4DAE-48268B4F2A85}"/>
              </a:ext>
            </a:extLst>
          </p:cNvPr>
          <p:cNvSpPr/>
          <p:nvPr/>
        </p:nvSpPr>
        <p:spPr>
          <a:xfrm>
            <a:off x="607595" y="1520310"/>
            <a:ext cx="222585" cy="209470"/>
          </a:xfrm>
          <a:prstGeom prst="ellipse">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 4">
            <a:extLst>
              <a:ext uri="{FF2B5EF4-FFF2-40B4-BE49-F238E27FC236}">
                <a16:creationId xmlns:a16="http://schemas.microsoft.com/office/drawing/2014/main" id="{57CC54EE-7A9F-6EF0-7379-277BFFD22E55}"/>
              </a:ext>
            </a:extLst>
          </p:cNvPr>
          <p:cNvSpPr/>
          <p:nvPr/>
        </p:nvSpPr>
        <p:spPr>
          <a:xfrm>
            <a:off x="590872" y="1499616"/>
            <a:ext cx="256032" cy="256032"/>
          </a:xfrm>
          <a:prstGeom prst="rect">
            <a:avLst/>
          </a:prstGeom>
          <a:noFill/>
          <a:ln/>
        </p:spPr>
        <p:txBody>
          <a:bodyPr wrap="square" lIns="0" tIns="0" rIns="0" bIns="0" rtlCol="0" anchor="ctr"/>
          <a:lstStyle/>
          <a:p>
            <a:pPr marL="0" indent="0" algn="ctr">
              <a:buNone/>
            </a:pPr>
            <a:r>
              <a:rPr lang="en-US" sz="900" b="1" dirty="0">
                <a:solidFill>
                  <a:srgbClr val="1E2761"/>
                </a:solidFill>
              </a:rPr>
              <a:t>1</a:t>
            </a:r>
            <a:endParaRPr lang="en-US" sz="900" dirty="0">
              <a:solidFill>
                <a:srgbClr val="1E2761"/>
              </a:solidFill>
            </a:endParaRPr>
          </a:p>
        </p:txBody>
      </p:sp>
      <p:sp>
        <p:nvSpPr>
          <p:cNvPr id="31" name="Oval 30">
            <a:extLst>
              <a:ext uri="{FF2B5EF4-FFF2-40B4-BE49-F238E27FC236}">
                <a16:creationId xmlns:a16="http://schemas.microsoft.com/office/drawing/2014/main" id="{8D719BCE-2022-2CE8-CC90-42EB4B9679CF}"/>
              </a:ext>
            </a:extLst>
          </p:cNvPr>
          <p:cNvSpPr/>
          <p:nvPr/>
        </p:nvSpPr>
        <p:spPr>
          <a:xfrm>
            <a:off x="590871" y="2187822"/>
            <a:ext cx="222585" cy="209470"/>
          </a:xfrm>
          <a:prstGeom prst="ellipse">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Text 4">
            <a:extLst>
              <a:ext uri="{FF2B5EF4-FFF2-40B4-BE49-F238E27FC236}">
                <a16:creationId xmlns:a16="http://schemas.microsoft.com/office/drawing/2014/main" id="{C5DDE00D-F465-1726-47F7-E6B847040EFE}"/>
              </a:ext>
            </a:extLst>
          </p:cNvPr>
          <p:cNvSpPr/>
          <p:nvPr/>
        </p:nvSpPr>
        <p:spPr>
          <a:xfrm>
            <a:off x="574148" y="2167128"/>
            <a:ext cx="256032" cy="256032"/>
          </a:xfrm>
          <a:prstGeom prst="rect">
            <a:avLst/>
          </a:prstGeom>
          <a:noFill/>
          <a:ln/>
        </p:spPr>
        <p:txBody>
          <a:bodyPr wrap="square" lIns="0" tIns="0" rIns="0" bIns="0" rtlCol="0" anchor="ctr"/>
          <a:lstStyle/>
          <a:p>
            <a:pPr marL="0" indent="0" algn="ctr">
              <a:buNone/>
            </a:pPr>
            <a:r>
              <a:rPr lang="en-US" sz="900" b="1" dirty="0">
                <a:solidFill>
                  <a:srgbClr val="1E2761"/>
                </a:solidFill>
              </a:rPr>
              <a:t>2</a:t>
            </a:r>
            <a:endParaRPr lang="en-US" sz="900" dirty="0">
              <a:solidFill>
                <a:srgbClr val="1E2761"/>
              </a:solidFill>
            </a:endParaRPr>
          </a:p>
        </p:txBody>
      </p:sp>
      <p:sp>
        <p:nvSpPr>
          <p:cNvPr id="33" name="Oval 32">
            <a:extLst>
              <a:ext uri="{FF2B5EF4-FFF2-40B4-BE49-F238E27FC236}">
                <a16:creationId xmlns:a16="http://schemas.microsoft.com/office/drawing/2014/main" id="{09A76E08-CD2E-1D1D-7221-25DA85EAC961}"/>
              </a:ext>
            </a:extLst>
          </p:cNvPr>
          <p:cNvSpPr/>
          <p:nvPr/>
        </p:nvSpPr>
        <p:spPr>
          <a:xfrm>
            <a:off x="601939" y="2846671"/>
            <a:ext cx="222585" cy="209470"/>
          </a:xfrm>
          <a:prstGeom prst="ellipse">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Text 4">
            <a:extLst>
              <a:ext uri="{FF2B5EF4-FFF2-40B4-BE49-F238E27FC236}">
                <a16:creationId xmlns:a16="http://schemas.microsoft.com/office/drawing/2014/main" id="{90609334-F9BB-B7B6-B47D-7D3E40843797}"/>
              </a:ext>
            </a:extLst>
          </p:cNvPr>
          <p:cNvSpPr/>
          <p:nvPr/>
        </p:nvSpPr>
        <p:spPr>
          <a:xfrm>
            <a:off x="585216" y="2825977"/>
            <a:ext cx="256032" cy="256032"/>
          </a:xfrm>
          <a:prstGeom prst="rect">
            <a:avLst/>
          </a:prstGeom>
          <a:noFill/>
          <a:ln/>
        </p:spPr>
        <p:txBody>
          <a:bodyPr wrap="square" lIns="0" tIns="0" rIns="0" bIns="0" rtlCol="0" anchor="ctr"/>
          <a:lstStyle/>
          <a:p>
            <a:pPr marL="0" indent="0" algn="ctr">
              <a:buNone/>
            </a:pPr>
            <a:r>
              <a:rPr lang="en-US" sz="900" b="1" dirty="0">
                <a:solidFill>
                  <a:srgbClr val="1E2761"/>
                </a:solidFill>
              </a:rPr>
              <a:t>3</a:t>
            </a:r>
            <a:endParaRPr lang="en-US" sz="900" dirty="0">
              <a:solidFill>
                <a:srgbClr val="1E2761"/>
              </a:solidFill>
            </a:endParaRPr>
          </a:p>
        </p:txBody>
      </p:sp>
      <p:sp>
        <p:nvSpPr>
          <p:cNvPr id="35" name="Oval 34">
            <a:extLst>
              <a:ext uri="{FF2B5EF4-FFF2-40B4-BE49-F238E27FC236}">
                <a16:creationId xmlns:a16="http://schemas.microsoft.com/office/drawing/2014/main" id="{42568C95-1A2A-142A-13E9-BF353414844F}"/>
              </a:ext>
            </a:extLst>
          </p:cNvPr>
          <p:cNvSpPr/>
          <p:nvPr/>
        </p:nvSpPr>
        <p:spPr>
          <a:xfrm>
            <a:off x="590871" y="3504558"/>
            <a:ext cx="222585" cy="209470"/>
          </a:xfrm>
          <a:prstGeom prst="ellipse">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 4">
            <a:extLst>
              <a:ext uri="{FF2B5EF4-FFF2-40B4-BE49-F238E27FC236}">
                <a16:creationId xmlns:a16="http://schemas.microsoft.com/office/drawing/2014/main" id="{92CCEDAA-68CB-2B3B-41B6-CC03499E2745}"/>
              </a:ext>
            </a:extLst>
          </p:cNvPr>
          <p:cNvSpPr/>
          <p:nvPr/>
        </p:nvSpPr>
        <p:spPr>
          <a:xfrm>
            <a:off x="574148" y="3483864"/>
            <a:ext cx="256032" cy="256032"/>
          </a:xfrm>
          <a:prstGeom prst="rect">
            <a:avLst/>
          </a:prstGeom>
          <a:noFill/>
          <a:ln/>
        </p:spPr>
        <p:txBody>
          <a:bodyPr wrap="square" lIns="0" tIns="0" rIns="0" bIns="0" rtlCol="0" anchor="ctr"/>
          <a:lstStyle/>
          <a:p>
            <a:pPr marL="0" indent="0" algn="ctr">
              <a:buNone/>
            </a:pPr>
            <a:r>
              <a:rPr lang="en-US" sz="900" b="1" dirty="0">
                <a:solidFill>
                  <a:srgbClr val="1E2761"/>
                </a:solidFill>
              </a:rPr>
              <a:t>4</a:t>
            </a:r>
            <a:endParaRPr lang="en-US" sz="900" dirty="0">
              <a:solidFill>
                <a:srgbClr val="1E2761"/>
              </a:solidFill>
            </a:endParaRPr>
          </a:p>
        </p:txBody>
      </p:sp>
      <p:pic>
        <p:nvPicPr>
          <p:cNvPr id="42" name="Picture 41">
            <a:extLst>
              <a:ext uri="{FF2B5EF4-FFF2-40B4-BE49-F238E27FC236}">
                <a16:creationId xmlns:a16="http://schemas.microsoft.com/office/drawing/2014/main" id="{119AE1EA-8225-BBE3-F62A-2BFE33767820}"/>
              </a:ext>
            </a:extLst>
          </p:cNvPr>
          <p:cNvPicPr>
            <a:picLocks noChangeAspect="1"/>
          </p:cNvPicPr>
          <p:nvPr/>
        </p:nvPicPr>
        <p:blipFill>
          <a:blip r:embed="rId3"/>
          <a:stretch>
            <a:fillRect/>
          </a:stretch>
        </p:blipFill>
        <p:spPr>
          <a:xfrm>
            <a:off x="4037262" y="1403604"/>
            <a:ext cx="4885893" cy="2715517"/>
          </a:xfrm>
          <a:prstGeom prst="rect">
            <a:avLst/>
          </a:prstGeom>
          <a:ln>
            <a:solidFill>
              <a:schemeClr val="tx1"/>
            </a:solidFill>
          </a:ln>
          <a:effectLst>
            <a:outerShdw blurRad="50800" dist="38100" dir="2700000" sx="102000" sy="102000" algn="tl" rotWithShape="0">
              <a:prstClr val="black">
                <a:alpha val="40000"/>
              </a:prst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47472"/>
            <a:ext cx="1207008" cy="256032"/>
          </a:xfrm>
          <a:prstGeom prst="rect">
            <a:avLst/>
          </a:prstGeom>
          <a:solidFill>
            <a:srgbClr val="1E2761"/>
          </a:solidFill>
          <a:ln w="12700">
            <a:solidFill>
              <a:srgbClr val="1E2761"/>
            </a:solidFill>
            <a:prstDash val="solid"/>
          </a:ln>
        </p:spPr>
      </p:sp>
      <p:sp>
        <p:nvSpPr>
          <p:cNvPr id="3" name="Text 1"/>
          <p:cNvSpPr/>
          <p:nvPr/>
        </p:nvSpPr>
        <p:spPr>
          <a:xfrm>
            <a:off x="548640" y="356616"/>
            <a:ext cx="2286000" cy="256032"/>
          </a:xfrm>
          <a:prstGeom prst="rect">
            <a:avLst/>
          </a:prstGeom>
          <a:noFill/>
          <a:ln/>
        </p:spPr>
        <p:txBody>
          <a:bodyPr wrap="square" lIns="0" tIns="76200" rIns="0" bIns="0" rtlCol="0" anchor="ctr"/>
          <a:lstStyle/>
          <a:p>
            <a:pPr marL="0" indent="0">
              <a:buNone/>
            </a:pPr>
            <a:r>
              <a:rPr lang="en-US" sz="800" b="1" kern="0" spc="200" dirty="0">
                <a:solidFill>
                  <a:srgbClr val="FFFFFF"/>
                </a:solidFill>
              </a:rPr>
              <a:t>ARCHITECTURE</a:t>
            </a:r>
            <a:endParaRPr lang="en-US" sz="800" dirty="0"/>
          </a:p>
        </p:txBody>
      </p:sp>
      <p:sp>
        <p:nvSpPr>
          <p:cNvPr id="4" name="Text 2"/>
          <p:cNvSpPr/>
          <p:nvPr/>
        </p:nvSpPr>
        <p:spPr>
          <a:xfrm>
            <a:off x="548640" y="658368"/>
            <a:ext cx="8046720" cy="475488"/>
          </a:xfrm>
          <a:prstGeom prst="rect">
            <a:avLst/>
          </a:prstGeom>
          <a:noFill/>
          <a:ln/>
        </p:spPr>
        <p:txBody>
          <a:bodyPr wrap="square" lIns="0" tIns="0" rIns="0" bIns="0" rtlCol="0" anchor="ctr"/>
          <a:lstStyle/>
          <a:p>
            <a:pPr marL="0" indent="0">
              <a:buNone/>
            </a:pPr>
            <a:r>
              <a:rPr lang="en-US" sz="2200" b="1" dirty="0">
                <a:solidFill>
                  <a:srgbClr val="1E293B"/>
                </a:solidFill>
              </a:rPr>
              <a:t>Clean separation between UI, orchestration, and agents.</a:t>
            </a:r>
            <a:endParaRPr lang="en-US" sz="2200" dirty="0"/>
          </a:p>
        </p:txBody>
      </p:sp>
      <p:sp>
        <p:nvSpPr>
          <p:cNvPr id="5" name="Shape 3"/>
          <p:cNvSpPr/>
          <p:nvPr/>
        </p:nvSpPr>
        <p:spPr>
          <a:xfrm>
            <a:off x="548640" y="1280160"/>
            <a:ext cx="2560320" cy="3429000"/>
          </a:xfrm>
          <a:prstGeom prst="roundRect">
            <a:avLst>
              <a:gd name="adj" fmla="val 3571"/>
            </a:avLst>
          </a:prstGeom>
          <a:solidFill>
            <a:srgbClr val="EEF2FF"/>
          </a:solidFill>
          <a:ln w="19050">
            <a:solidFill>
              <a:srgbClr val="A5B4FC"/>
            </a:solidFill>
            <a:prstDash val="solid"/>
          </a:ln>
          <a:effectLst>
            <a:outerShdw blurRad="101600" dist="38100" dir="2700000" algn="bl" rotWithShape="0">
              <a:srgbClr val="000000">
                <a:alpha val="10000"/>
              </a:srgbClr>
            </a:outerShdw>
          </a:effectLst>
        </p:spPr>
      </p:sp>
      <p:sp>
        <p:nvSpPr>
          <p:cNvPr id="6" name="Text 4"/>
          <p:cNvSpPr/>
          <p:nvPr/>
        </p:nvSpPr>
        <p:spPr>
          <a:xfrm>
            <a:off x="548640" y="1389888"/>
            <a:ext cx="2560320" cy="274320"/>
          </a:xfrm>
          <a:prstGeom prst="rect">
            <a:avLst/>
          </a:prstGeom>
          <a:noFill/>
          <a:ln/>
        </p:spPr>
        <p:txBody>
          <a:bodyPr wrap="square" lIns="0" tIns="0" rIns="0" bIns="0" rtlCol="0" anchor="ctr"/>
          <a:lstStyle/>
          <a:p>
            <a:pPr marL="0" indent="0" algn="ctr">
              <a:buNone/>
            </a:pPr>
            <a:r>
              <a:rPr lang="en-US" sz="1300" b="1" dirty="0">
                <a:solidFill>
                  <a:srgbClr val="1E293B"/>
                </a:solidFill>
              </a:rPr>
              <a:t>Frontend</a:t>
            </a:r>
            <a:endParaRPr lang="en-US" sz="1300" dirty="0"/>
          </a:p>
        </p:txBody>
      </p:sp>
      <p:sp>
        <p:nvSpPr>
          <p:cNvPr id="7" name="Text 5"/>
          <p:cNvSpPr/>
          <p:nvPr/>
        </p:nvSpPr>
        <p:spPr>
          <a:xfrm>
            <a:off x="548640" y="1664208"/>
            <a:ext cx="2560320" cy="201168"/>
          </a:xfrm>
          <a:prstGeom prst="rect">
            <a:avLst/>
          </a:prstGeom>
          <a:noFill/>
          <a:ln/>
        </p:spPr>
        <p:txBody>
          <a:bodyPr wrap="square" lIns="0" tIns="0" rIns="0" bIns="0" rtlCol="0" anchor="ctr"/>
          <a:lstStyle/>
          <a:p>
            <a:pPr marL="0" indent="0" algn="ctr">
              <a:buNone/>
            </a:pPr>
            <a:r>
              <a:rPr lang="en-US" sz="900" dirty="0">
                <a:solidFill>
                  <a:srgbClr val="64748B"/>
                </a:solidFill>
              </a:rPr>
              <a:t>React · TypeScript · Vite</a:t>
            </a:r>
            <a:endParaRPr lang="en-US" sz="900" dirty="0"/>
          </a:p>
        </p:txBody>
      </p:sp>
      <p:sp>
        <p:nvSpPr>
          <p:cNvPr id="8" name="Shape 6"/>
          <p:cNvSpPr/>
          <p:nvPr/>
        </p:nvSpPr>
        <p:spPr>
          <a:xfrm>
            <a:off x="822960" y="1965960"/>
            <a:ext cx="2011680" cy="0"/>
          </a:xfrm>
          <a:prstGeom prst="line">
            <a:avLst/>
          </a:prstGeom>
          <a:noFill/>
          <a:ln w="12700">
            <a:solidFill>
              <a:srgbClr val="A5B4FC"/>
            </a:solidFill>
            <a:prstDash val="solid"/>
          </a:ln>
        </p:spPr>
      </p:sp>
      <p:sp>
        <p:nvSpPr>
          <p:cNvPr id="9" name="Text 7"/>
          <p:cNvSpPr/>
          <p:nvPr/>
        </p:nvSpPr>
        <p:spPr>
          <a:xfrm>
            <a:off x="749808" y="2148840"/>
            <a:ext cx="2194560" cy="274320"/>
          </a:xfrm>
          <a:prstGeom prst="rect">
            <a:avLst/>
          </a:prstGeom>
          <a:noFill/>
          <a:ln/>
        </p:spPr>
        <p:txBody>
          <a:bodyPr wrap="square" lIns="0" tIns="0" rIns="0" bIns="0" rtlCol="0" anchor="ctr"/>
          <a:lstStyle/>
          <a:p>
            <a:pPr marL="0" indent="0">
              <a:buNone/>
            </a:pPr>
            <a:r>
              <a:rPr lang="en-US" sz="1000" dirty="0">
                <a:solidFill>
                  <a:srgbClr val="1E293B"/>
                </a:solidFill>
              </a:rPr>
              <a:t>→  Zustand store</a:t>
            </a:r>
            <a:endParaRPr lang="en-US" sz="1000" dirty="0"/>
          </a:p>
        </p:txBody>
      </p:sp>
      <p:sp>
        <p:nvSpPr>
          <p:cNvPr id="10" name="Text 8"/>
          <p:cNvSpPr/>
          <p:nvPr/>
        </p:nvSpPr>
        <p:spPr>
          <a:xfrm>
            <a:off x="749808" y="2532888"/>
            <a:ext cx="2194560" cy="274320"/>
          </a:xfrm>
          <a:prstGeom prst="rect">
            <a:avLst/>
          </a:prstGeom>
          <a:noFill/>
          <a:ln/>
        </p:spPr>
        <p:txBody>
          <a:bodyPr wrap="square" lIns="0" tIns="0" rIns="0" bIns="0" rtlCol="0" anchor="ctr"/>
          <a:lstStyle/>
          <a:p>
            <a:pPr marL="0" indent="0">
              <a:buNone/>
            </a:pPr>
            <a:r>
              <a:rPr lang="en-US" sz="1000" dirty="0">
                <a:solidFill>
                  <a:srgbClr val="1E293B"/>
                </a:solidFill>
              </a:rPr>
              <a:t>→  Framer Motion</a:t>
            </a:r>
            <a:endParaRPr lang="en-US" sz="1000" dirty="0"/>
          </a:p>
        </p:txBody>
      </p:sp>
      <p:sp>
        <p:nvSpPr>
          <p:cNvPr id="11" name="Text 9"/>
          <p:cNvSpPr/>
          <p:nvPr/>
        </p:nvSpPr>
        <p:spPr>
          <a:xfrm>
            <a:off x="749808" y="2916936"/>
            <a:ext cx="2194560" cy="274320"/>
          </a:xfrm>
          <a:prstGeom prst="rect">
            <a:avLst/>
          </a:prstGeom>
          <a:noFill/>
          <a:ln/>
        </p:spPr>
        <p:txBody>
          <a:bodyPr wrap="square" lIns="0" tIns="0" rIns="0" bIns="0" rtlCol="0" anchor="ctr"/>
          <a:lstStyle/>
          <a:p>
            <a:pPr marL="0" indent="0">
              <a:buNone/>
            </a:pPr>
            <a:r>
              <a:rPr lang="en-US" sz="1000" dirty="0">
                <a:solidFill>
                  <a:srgbClr val="1E293B"/>
                </a:solidFill>
              </a:rPr>
              <a:t>→  Recharts / SVG Map</a:t>
            </a:r>
            <a:endParaRPr lang="en-US" sz="1000" dirty="0"/>
          </a:p>
        </p:txBody>
      </p:sp>
      <p:sp>
        <p:nvSpPr>
          <p:cNvPr id="12" name="Shape 10"/>
          <p:cNvSpPr/>
          <p:nvPr/>
        </p:nvSpPr>
        <p:spPr>
          <a:xfrm>
            <a:off x="3108960" y="2999232"/>
            <a:ext cx="228600" cy="0"/>
          </a:xfrm>
          <a:prstGeom prst="line">
            <a:avLst/>
          </a:prstGeom>
          <a:noFill/>
          <a:ln w="19050">
            <a:solidFill>
              <a:srgbClr val="64748B"/>
            </a:solidFill>
            <a:prstDash val="solid"/>
            <a:tailEnd type="triangle"/>
          </a:ln>
        </p:spPr>
      </p:sp>
      <p:sp>
        <p:nvSpPr>
          <p:cNvPr id="13" name="Shape 11"/>
          <p:cNvSpPr/>
          <p:nvPr/>
        </p:nvSpPr>
        <p:spPr>
          <a:xfrm>
            <a:off x="3337560" y="1280160"/>
            <a:ext cx="2560320" cy="3429000"/>
          </a:xfrm>
          <a:prstGeom prst="roundRect">
            <a:avLst>
              <a:gd name="adj" fmla="val 3571"/>
            </a:avLst>
          </a:prstGeom>
          <a:solidFill>
            <a:srgbClr val="F0FDF4"/>
          </a:solidFill>
          <a:ln w="19050">
            <a:solidFill>
              <a:srgbClr val="86EFAC"/>
            </a:solidFill>
            <a:prstDash val="solid"/>
          </a:ln>
          <a:effectLst>
            <a:outerShdw blurRad="101600" dist="38100" dir="2700000" algn="bl" rotWithShape="0">
              <a:srgbClr val="000000">
                <a:alpha val="10000"/>
              </a:srgbClr>
            </a:outerShdw>
          </a:effectLst>
        </p:spPr>
      </p:sp>
      <p:sp>
        <p:nvSpPr>
          <p:cNvPr id="14" name="Text 12"/>
          <p:cNvSpPr/>
          <p:nvPr/>
        </p:nvSpPr>
        <p:spPr>
          <a:xfrm>
            <a:off x="3337560" y="1389888"/>
            <a:ext cx="2560320" cy="274320"/>
          </a:xfrm>
          <a:prstGeom prst="rect">
            <a:avLst/>
          </a:prstGeom>
          <a:noFill/>
          <a:ln/>
        </p:spPr>
        <p:txBody>
          <a:bodyPr wrap="square" lIns="0" tIns="0" rIns="0" bIns="0" rtlCol="0" anchor="ctr"/>
          <a:lstStyle/>
          <a:p>
            <a:pPr marL="0" indent="0" algn="ctr">
              <a:buNone/>
            </a:pPr>
            <a:r>
              <a:rPr lang="en-US" sz="1300" b="1" dirty="0">
                <a:solidFill>
                  <a:srgbClr val="1E293B"/>
                </a:solidFill>
              </a:rPr>
              <a:t>Backend API</a:t>
            </a:r>
            <a:endParaRPr lang="en-US" sz="1300" dirty="0"/>
          </a:p>
        </p:txBody>
      </p:sp>
      <p:sp>
        <p:nvSpPr>
          <p:cNvPr id="15" name="Text 13"/>
          <p:cNvSpPr/>
          <p:nvPr/>
        </p:nvSpPr>
        <p:spPr>
          <a:xfrm>
            <a:off x="3337560" y="1664208"/>
            <a:ext cx="2560320" cy="201168"/>
          </a:xfrm>
          <a:prstGeom prst="rect">
            <a:avLst/>
          </a:prstGeom>
          <a:noFill/>
          <a:ln/>
        </p:spPr>
        <p:txBody>
          <a:bodyPr wrap="square" lIns="0" tIns="0" rIns="0" bIns="0" rtlCol="0" anchor="ctr"/>
          <a:lstStyle/>
          <a:p>
            <a:pPr marL="0" indent="0" algn="ctr">
              <a:buNone/>
            </a:pPr>
            <a:r>
              <a:rPr lang="en-US" sz="900" dirty="0">
                <a:solidFill>
                  <a:srgbClr val="64748B"/>
                </a:solidFill>
              </a:rPr>
              <a:t>FastAPI · Python</a:t>
            </a:r>
            <a:endParaRPr lang="en-US" sz="900" dirty="0"/>
          </a:p>
        </p:txBody>
      </p:sp>
      <p:sp>
        <p:nvSpPr>
          <p:cNvPr id="16" name="Shape 14"/>
          <p:cNvSpPr/>
          <p:nvPr/>
        </p:nvSpPr>
        <p:spPr>
          <a:xfrm>
            <a:off x="3611880" y="1965960"/>
            <a:ext cx="2011680" cy="0"/>
          </a:xfrm>
          <a:prstGeom prst="line">
            <a:avLst/>
          </a:prstGeom>
          <a:noFill/>
          <a:ln w="12700">
            <a:solidFill>
              <a:srgbClr val="86EFAC"/>
            </a:solidFill>
            <a:prstDash val="solid"/>
          </a:ln>
        </p:spPr>
      </p:sp>
      <p:sp>
        <p:nvSpPr>
          <p:cNvPr id="17" name="Text 15"/>
          <p:cNvSpPr/>
          <p:nvPr/>
        </p:nvSpPr>
        <p:spPr>
          <a:xfrm>
            <a:off x="3538728" y="2148840"/>
            <a:ext cx="2194560" cy="274320"/>
          </a:xfrm>
          <a:prstGeom prst="rect">
            <a:avLst/>
          </a:prstGeom>
          <a:noFill/>
          <a:ln/>
        </p:spPr>
        <p:txBody>
          <a:bodyPr wrap="square" lIns="0" tIns="0" rIns="0" bIns="0" rtlCol="0" anchor="ctr"/>
          <a:lstStyle/>
          <a:p>
            <a:pPr marL="0" indent="0">
              <a:buNone/>
            </a:pPr>
            <a:r>
              <a:rPr lang="en-US" sz="1000" dirty="0">
                <a:solidFill>
                  <a:srgbClr val="1E293B"/>
                </a:solidFill>
              </a:rPr>
              <a:t>→  POST /analyze</a:t>
            </a:r>
            <a:endParaRPr lang="en-US" sz="1000" dirty="0"/>
          </a:p>
        </p:txBody>
      </p:sp>
      <p:sp>
        <p:nvSpPr>
          <p:cNvPr id="18" name="Text 16"/>
          <p:cNvSpPr/>
          <p:nvPr/>
        </p:nvSpPr>
        <p:spPr>
          <a:xfrm>
            <a:off x="3538728" y="2532888"/>
            <a:ext cx="2194560" cy="274320"/>
          </a:xfrm>
          <a:prstGeom prst="rect">
            <a:avLst/>
          </a:prstGeom>
          <a:noFill/>
          <a:ln/>
        </p:spPr>
        <p:txBody>
          <a:bodyPr wrap="square" lIns="0" tIns="0" rIns="0" bIns="0" rtlCol="0" anchor="ctr"/>
          <a:lstStyle/>
          <a:p>
            <a:pPr marL="0" indent="0">
              <a:buNone/>
            </a:pPr>
            <a:r>
              <a:rPr lang="en-US" sz="1000" dirty="0">
                <a:solidFill>
                  <a:srgbClr val="1E293B"/>
                </a:solidFill>
              </a:rPr>
              <a:t>→  Agent orchestrator</a:t>
            </a:r>
            <a:endParaRPr lang="en-US" sz="1000" dirty="0"/>
          </a:p>
        </p:txBody>
      </p:sp>
      <p:sp>
        <p:nvSpPr>
          <p:cNvPr id="19" name="Text 17"/>
          <p:cNvSpPr/>
          <p:nvPr/>
        </p:nvSpPr>
        <p:spPr>
          <a:xfrm>
            <a:off x="3538728" y="2916936"/>
            <a:ext cx="2194560" cy="274320"/>
          </a:xfrm>
          <a:prstGeom prst="rect">
            <a:avLst/>
          </a:prstGeom>
          <a:noFill/>
          <a:ln/>
        </p:spPr>
        <p:txBody>
          <a:bodyPr wrap="square" lIns="0" tIns="0" rIns="0" bIns="0" rtlCol="0" anchor="ctr"/>
          <a:lstStyle/>
          <a:p>
            <a:pPr marL="0" indent="0">
              <a:buNone/>
            </a:pPr>
            <a:r>
              <a:rPr lang="en-US" sz="1000" dirty="0">
                <a:solidFill>
                  <a:srgbClr val="1E293B"/>
                </a:solidFill>
              </a:rPr>
              <a:t>→  JSON response contract</a:t>
            </a:r>
            <a:endParaRPr lang="en-US" sz="1000" dirty="0"/>
          </a:p>
        </p:txBody>
      </p:sp>
      <p:sp>
        <p:nvSpPr>
          <p:cNvPr id="20" name="Shape 18"/>
          <p:cNvSpPr/>
          <p:nvPr/>
        </p:nvSpPr>
        <p:spPr>
          <a:xfrm>
            <a:off x="5897880" y="2999232"/>
            <a:ext cx="228600" cy="0"/>
          </a:xfrm>
          <a:prstGeom prst="line">
            <a:avLst/>
          </a:prstGeom>
          <a:noFill/>
          <a:ln w="19050">
            <a:solidFill>
              <a:srgbClr val="64748B"/>
            </a:solidFill>
            <a:prstDash val="solid"/>
            <a:tailEnd type="triangle"/>
          </a:ln>
        </p:spPr>
      </p:sp>
      <p:sp>
        <p:nvSpPr>
          <p:cNvPr id="21" name="Shape 19"/>
          <p:cNvSpPr/>
          <p:nvPr/>
        </p:nvSpPr>
        <p:spPr>
          <a:xfrm>
            <a:off x="6126480" y="1280160"/>
            <a:ext cx="2560320" cy="3429000"/>
          </a:xfrm>
          <a:prstGeom prst="roundRect">
            <a:avLst>
              <a:gd name="adj" fmla="val 3571"/>
            </a:avLst>
          </a:prstGeom>
          <a:solidFill>
            <a:srgbClr val="FFF7ED"/>
          </a:solidFill>
          <a:ln w="19050">
            <a:solidFill>
              <a:srgbClr val="FCA5A5"/>
            </a:solidFill>
            <a:prstDash val="solid"/>
          </a:ln>
          <a:effectLst>
            <a:outerShdw blurRad="101600" dist="38100" dir="2700000" algn="bl" rotWithShape="0">
              <a:srgbClr val="000000">
                <a:alpha val="10000"/>
              </a:srgbClr>
            </a:outerShdw>
          </a:effectLst>
        </p:spPr>
      </p:sp>
      <p:sp>
        <p:nvSpPr>
          <p:cNvPr id="22" name="Text 20"/>
          <p:cNvSpPr/>
          <p:nvPr/>
        </p:nvSpPr>
        <p:spPr>
          <a:xfrm>
            <a:off x="6126480" y="1389888"/>
            <a:ext cx="2560320" cy="274320"/>
          </a:xfrm>
          <a:prstGeom prst="rect">
            <a:avLst/>
          </a:prstGeom>
          <a:noFill/>
          <a:ln/>
        </p:spPr>
        <p:txBody>
          <a:bodyPr wrap="square" lIns="0" tIns="0" rIns="0" bIns="0" rtlCol="0" anchor="ctr"/>
          <a:lstStyle/>
          <a:p>
            <a:pPr marL="0" indent="0" algn="ctr">
              <a:buNone/>
            </a:pPr>
            <a:r>
              <a:rPr lang="en-US" sz="1300" b="1" dirty="0">
                <a:solidFill>
                  <a:srgbClr val="1E293B"/>
                </a:solidFill>
              </a:rPr>
              <a:t>Agent Layer</a:t>
            </a:r>
            <a:endParaRPr lang="en-US" sz="1300" dirty="0"/>
          </a:p>
        </p:txBody>
      </p:sp>
      <p:sp>
        <p:nvSpPr>
          <p:cNvPr id="23" name="Text 21"/>
          <p:cNvSpPr/>
          <p:nvPr/>
        </p:nvSpPr>
        <p:spPr>
          <a:xfrm>
            <a:off x="6126480" y="1664208"/>
            <a:ext cx="2560320" cy="201168"/>
          </a:xfrm>
          <a:prstGeom prst="rect">
            <a:avLst/>
          </a:prstGeom>
          <a:noFill/>
          <a:ln/>
        </p:spPr>
        <p:txBody>
          <a:bodyPr wrap="square" lIns="0" tIns="0" rIns="0" bIns="0" rtlCol="0" anchor="ctr"/>
          <a:lstStyle/>
          <a:p>
            <a:pPr marL="0" indent="0" algn="ctr">
              <a:buNone/>
            </a:pPr>
            <a:r>
              <a:rPr lang="en-US" sz="900" dirty="0">
                <a:solidFill>
                  <a:srgbClr val="64748B"/>
                </a:solidFill>
              </a:rPr>
              <a:t>6 specialized agents</a:t>
            </a:r>
            <a:endParaRPr lang="en-US" sz="900" dirty="0"/>
          </a:p>
        </p:txBody>
      </p:sp>
      <p:sp>
        <p:nvSpPr>
          <p:cNvPr id="24" name="Shape 22"/>
          <p:cNvSpPr/>
          <p:nvPr/>
        </p:nvSpPr>
        <p:spPr>
          <a:xfrm>
            <a:off x="6400800" y="1965960"/>
            <a:ext cx="2011680" cy="0"/>
          </a:xfrm>
          <a:prstGeom prst="line">
            <a:avLst/>
          </a:prstGeom>
          <a:noFill/>
          <a:ln w="12700">
            <a:solidFill>
              <a:srgbClr val="FCA5A5"/>
            </a:solidFill>
            <a:prstDash val="solid"/>
          </a:ln>
        </p:spPr>
      </p:sp>
      <p:sp>
        <p:nvSpPr>
          <p:cNvPr id="25" name="Text 23"/>
          <p:cNvSpPr/>
          <p:nvPr/>
        </p:nvSpPr>
        <p:spPr>
          <a:xfrm>
            <a:off x="6327648" y="2148840"/>
            <a:ext cx="2194560" cy="274320"/>
          </a:xfrm>
          <a:prstGeom prst="rect">
            <a:avLst/>
          </a:prstGeom>
          <a:noFill/>
          <a:ln/>
        </p:spPr>
        <p:txBody>
          <a:bodyPr wrap="square" lIns="0" tIns="0" rIns="0" bIns="0" rtlCol="0" anchor="ctr"/>
          <a:lstStyle/>
          <a:p>
            <a:pPr marL="0" indent="0">
              <a:buNone/>
            </a:pPr>
            <a:r>
              <a:rPr lang="en-US" sz="1000" dirty="0">
                <a:solidFill>
                  <a:srgbClr val="1E293B"/>
                </a:solidFill>
              </a:rPr>
              <a:t>→  Intake → Security → Severity</a:t>
            </a:r>
            <a:endParaRPr lang="en-US" sz="1000" dirty="0"/>
          </a:p>
        </p:txBody>
      </p:sp>
      <p:sp>
        <p:nvSpPr>
          <p:cNvPr id="26" name="Text 24"/>
          <p:cNvSpPr/>
          <p:nvPr/>
        </p:nvSpPr>
        <p:spPr>
          <a:xfrm>
            <a:off x="6327648" y="2532888"/>
            <a:ext cx="2194560" cy="274320"/>
          </a:xfrm>
          <a:prstGeom prst="rect">
            <a:avLst/>
          </a:prstGeom>
          <a:noFill/>
          <a:ln/>
        </p:spPr>
        <p:txBody>
          <a:bodyPr wrap="square" lIns="0" tIns="0" rIns="0" bIns="0" rtlCol="0" anchor="ctr"/>
          <a:lstStyle/>
          <a:p>
            <a:pPr marL="0" indent="0">
              <a:buNone/>
            </a:pPr>
            <a:r>
              <a:rPr lang="en-US" sz="1000" dirty="0">
                <a:solidFill>
                  <a:srgbClr val="1E293B"/>
                </a:solidFill>
              </a:rPr>
              <a:t>→  Resource Planner → Human Review</a:t>
            </a:r>
            <a:endParaRPr lang="en-US" sz="1000" dirty="0"/>
          </a:p>
        </p:txBody>
      </p:sp>
      <p:sp>
        <p:nvSpPr>
          <p:cNvPr id="27" name="Text 25"/>
          <p:cNvSpPr/>
          <p:nvPr/>
        </p:nvSpPr>
        <p:spPr>
          <a:xfrm>
            <a:off x="6327648" y="2916936"/>
            <a:ext cx="2194560" cy="274320"/>
          </a:xfrm>
          <a:prstGeom prst="rect">
            <a:avLst/>
          </a:prstGeom>
          <a:noFill/>
          <a:ln/>
        </p:spPr>
        <p:txBody>
          <a:bodyPr wrap="square" lIns="0" tIns="0" rIns="0" bIns="0" rtlCol="0" anchor="ctr"/>
          <a:lstStyle/>
          <a:p>
            <a:pPr marL="0" indent="0">
              <a:buNone/>
            </a:pPr>
            <a:r>
              <a:rPr lang="en-US" sz="1000" dirty="0">
                <a:solidFill>
                  <a:srgbClr val="1E293B"/>
                </a:solidFill>
              </a:rPr>
              <a:t>→  Notification Agent</a:t>
            </a:r>
            <a:endParaRPr lang="en-US" sz="1000" dirty="0"/>
          </a:p>
        </p:txBody>
      </p:sp>
      <p:sp>
        <p:nvSpPr>
          <p:cNvPr id="28" name="Text 26"/>
          <p:cNvSpPr/>
          <p:nvPr/>
        </p:nvSpPr>
        <p:spPr>
          <a:xfrm>
            <a:off x="548640" y="4828032"/>
            <a:ext cx="8046720" cy="201168"/>
          </a:xfrm>
          <a:prstGeom prst="rect">
            <a:avLst/>
          </a:prstGeom>
          <a:noFill/>
          <a:ln/>
        </p:spPr>
        <p:txBody>
          <a:bodyPr wrap="square" lIns="0" tIns="0" rIns="0" bIns="0" rtlCol="0" anchor="ctr"/>
          <a:lstStyle/>
          <a:p>
            <a:pPr marL="0" indent="0" algn="ctr">
              <a:buNone/>
            </a:pPr>
            <a:r>
              <a:rPr lang="en-US" sz="900" i="1" dirty="0">
                <a:solidFill>
                  <a:srgbClr val="64748B"/>
                </a:solidFill>
              </a:rPr>
              <a:t>All layers run locally · No cloud dependency · Designed for real backend integration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47472"/>
            <a:ext cx="1828800" cy="256032"/>
          </a:xfrm>
          <a:prstGeom prst="rect">
            <a:avLst/>
          </a:prstGeom>
          <a:solidFill>
            <a:srgbClr val="1E2761"/>
          </a:solidFill>
          <a:ln w="12700">
            <a:solidFill>
              <a:srgbClr val="1E2761"/>
            </a:solidFill>
            <a:prstDash val="solid"/>
          </a:ln>
        </p:spPr>
      </p:sp>
      <p:sp>
        <p:nvSpPr>
          <p:cNvPr id="3" name="Text 1"/>
          <p:cNvSpPr/>
          <p:nvPr/>
        </p:nvSpPr>
        <p:spPr>
          <a:xfrm>
            <a:off x="548640" y="356616"/>
            <a:ext cx="2286000" cy="256032"/>
          </a:xfrm>
          <a:prstGeom prst="rect">
            <a:avLst/>
          </a:prstGeom>
          <a:noFill/>
          <a:ln/>
        </p:spPr>
        <p:txBody>
          <a:bodyPr wrap="square" lIns="0" tIns="76200" rIns="0" bIns="0" rtlCol="0" anchor="ctr"/>
          <a:lstStyle/>
          <a:p>
            <a:pPr marL="0" indent="0">
              <a:buNone/>
            </a:pPr>
            <a:r>
              <a:rPr lang="en-US" sz="800" b="1" kern="0" spc="200" dirty="0">
                <a:solidFill>
                  <a:srgbClr val="FFFFFF"/>
                </a:solidFill>
              </a:rPr>
              <a:t>MULTI-AGENT WORKFLOW</a:t>
            </a:r>
            <a:endParaRPr lang="en-US" sz="800" dirty="0"/>
          </a:p>
        </p:txBody>
      </p:sp>
      <p:sp>
        <p:nvSpPr>
          <p:cNvPr id="4" name="Text 2"/>
          <p:cNvSpPr/>
          <p:nvPr/>
        </p:nvSpPr>
        <p:spPr>
          <a:xfrm>
            <a:off x="548640" y="658368"/>
            <a:ext cx="8046720" cy="438912"/>
          </a:xfrm>
          <a:prstGeom prst="rect">
            <a:avLst/>
          </a:prstGeom>
          <a:noFill/>
          <a:ln/>
        </p:spPr>
        <p:txBody>
          <a:bodyPr wrap="square" lIns="0" tIns="0" rIns="0" bIns="0" rtlCol="0" anchor="ctr"/>
          <a:lstStyle/>
          <a:p>
            <a:pPr marL="0" indent="0">
              <a:buNone/>
            </a:pPr>
            <a:r>
              <a:rPr lang="en-US" sz="2200" b="1" dirty="0">
                <a:solidFill>
                  <a:srgbClr val="1E293B"/>
                </a:solidFill>
              </a:rPr>
              <a:t>Six agents. Sequential pipeline. Visible reasoning.</a:t>
            </a:r>
            <a:endParaRPr lang="en-US" sz="2200" dirty="0"/>
          </a:p>
        </p:txBody>
      </p:sp>
      <p:sp>
        <p:nvSpPr>
          <p:cNvPr id="5" name="Shape 3"/>
          <p:cNvSpPr/>
          <p:nvPr/>
        </p:nvSpPr>
        <p:spPr>
          <a:xfrm>
            <a:off x="548640" y="1376173"/>
            <a:ext cx="1261872" cy="960120"/>
          </a:xfrm>
          <a:prstGeom prst="roundRect">
            <a:avLst>
              <a:gd name="adj" fmla="val 7619"/>
            </a:avLst>
          </a:prstGeom>
          <a:solidFill>
            <a:srgbClr val="1E2761"/>
          </a:solidFill>
          <a:ln w="12700">
            <a:solidFill>
              <a:srgbClr val="1E2761"/>
            </a:solidFill>
            <a:prstDash val="solid"/>
          </a:ln>
          <a:effectLst>
            <a:outerShdw blurRad="50800" dist="38100" dir="2700000" sx="102000" sy="102000" algn="tl" rotWithShape="0">
              <a:prstClr val="black">
                <a:alpha val="40000"/>
              </a:prstClr>
            </a:outerShdw>
          </a:effectLst>
        </p:spPr>
      </p:sp>
      <p:sp>
        <p:nvSpPr>
          <p:cNvPr id="6" name="Text 4"/>
          <p:cNvSpPr/>
          <p:nvPr/>
        </p:nvSpPr>
        <p:spPr>
          <a:xfrm>
            <a:off x="548640" y="1431037"/>
            <a:ext cx="1261872" cy="320040"/>
          </a:xfrm>
          <a:prstGeom prst="rect">
            <a:avLst/>
          </a:prstGeom>
          <a:noFill/>
          <a:ln/>
          <a:effectLst>
            <a:outerShdw blurRad="50800" dist="38100" dir="2700000" sx="102000" sy="102000" algn="tl" rotWithShape="0">
              <a:prstClr val="black">
                <a:alpha val="40000"/>
              </a:prstClr>
            </a:outerShdw>
          </a:effectLst>
        </p:spPr>
        <p:txBody>
          <a:bodyPr wrap="square" lIns="0" tIns="0" rIns="0" bIns="0" rtlCol="0" anchor="ctr"/>
          <a:lstStyle/>
          <a:p>
            <a:pPr marL="0" indent="0" algn="ctr">
              <a:buNone/>
            </a:pPr>
            <a:r>
              <a:rPr lang="en-US" sz="1800" b="1" dirty="0">
                <a:solidFill>
                  <a:srgbClr val="CADCFC"/>
                </a:solidFill>
              </a:rPr>
              <a:t>1</a:t>
            </a:r>
            <a:endParaRPr lang="en-US" sz="1800" dirty="0"/>
          </a:p>
        </p:txBody>
      </p:sp>
      <p:sp>
        <p:nvSpPr>
          <p:cNvPr id="7" name="Text 5"/>
          <p:cNvSpPr/>
          <p:nvPr/>
        </p:nvSpPr>
        <p:spPr>
          <a:xfrm>
            <a:off x="548640" y="1778509"/>
            <a:ext cx="1261872" cy="228600"/>
          </a:xfrm>
          <a:prstGeom prst="rect">
            <a:avLst/>
          </a:prstGeom>
          <a:noFill/>
          <a:ln/>
          <a:effectLst>
            <a:outerShdw blurRad="50800" dist="38100" dir="2700000" sx="102000" sy="102000" algn="tl" rotWithShape="0">
              <a:prstClr val="black">
                <a:alpha val="40000"/>
              </a:prstClr>
            </a:outerShdw>
          </a:effectLst>
        </p:spPr>
        <p:txBody>
          <a:bodyPr wrap="square" lIns="0" tIns="0" rIns="0" bIns="0" rtlCol="0" anchor="ctr"/>
          <a:lstStyle/>
          <a:p>
            <a:pPr marL="0" indent="0" algn="ctr">
              <a:buNone/>
            </a:pPr>
            <a:r>
              <a:rPr lang="en-US" sz="850" b="1" dirty="0">
                <a:solidFill>
                  <a:srgbClr val="FFFFFF"/>
                </a:solidFill>
              </a:rPr>
              <a:t>Intake</a:t>
            </a:r>
            <a:endParaRPr lang="en-US" sz="850" dirty="0"/>
          </a:p>
        </p:txBody>
      </p:sp>
      <p:sp>
        <p:nvSpPr>
          <p:cNvPr id="8" name="Text 6"/>
          <p:cNvSpPr/>
          <p:nvPr/>
        </p:nvSpPr>
        <p:spPr>
          <a:xfrm>
            <a:off x="548640" y="2007109"/>
            <a:ext cx="1261872" cy="201168"/>
          </a:xfrm>
          <a:prstGeom prst="rect">
            <a:avLst/>
          </a:prstGeom>
          <a:noFill/>
          <a:ln/>
          <a:effectLst>
            <a:outerShdw blurRad="50800" dist="38100" dir="2700000" sx="102000" sy="102000" algn="tl" rotWithShape="0">
              <a:prstClr val="black">
                <a:alpha val="40000"/>
              </a:prstClr>
            </a:outerShdw>
          </a:effectLst>
        </p:spPr>
        <p:txBody>
          <a:bodyPr wrap="square" lIns="0" tIns="0" rIns="0" bIns="0" rtlCol="0" anchor="ctr"/>
          <a:lstStyle/>
          <a:p>
            <a:pPr marL="0" indent="0" algn="ctr">
              <a:buNone/>
            </a:pPr>
            <a:r>
              <a:rPr lang="en-US" sz="750" dirty="0">
                <a:solidFill>
                  <a:srgbClr val="CADCFC"/>
                </a:solidFill>
              </a:rPr>
              <a:t>Parse &amp; structure</a:t>
            </a:r>
            <a:endParaRPr lang="en-US" sz="750" dirty="0"/>
          </a:p>
        </p:txBody>
      </p:sp>
      <p:sp>
        <p:nvSpPr>
          <p:cNvPr id="9" name="Shape 7"/>
          <p:cNvSpPr/>
          <p:nvPr/>
        </p:nvSpPr>
        <p:spPr>
          <a:xfrm>
            <a:off x="1920240" y="1376173"/>
            <a:ext cx="1261872" cy="960120"/>
          </a:xfrm>
          <a:prstGeom prst="roundRect">
            <a:avLst>
              <a:gd name="adj" fmla="val 7619"/>
            </a:avLst>
          </a:prstGeom>
          <a:solidFill>
            <a:srgbClr val="1E2761"/>
          </a:solidFill>
          <a:ln w="12700">
            <a:solidFill>
              <a:srgbClr val="1E2761"/>
            </a:solidFill>
            <a:prstDash val="solid"/>
          </a:ln>
          <a:effectLst>
            <a:outerShdw blurRad="50800" dist="38100" dir="2700000" sx="102000" sy="102000" algn="tl" rotWithShape="0">
              <a:prstClr val="black">
                <a:alpha val="40000"/>
              </a:prstClr>
            </a:outerShdw>
          </a:effectLst>
        </p:spPr>
      </p:sp>
      <p:sp>
        <p:nvSpPr>
          <p:cNvPr id="10" name="Text 8"/>
          <p:cNvSpPr/>
          <p:nvPr/>
        </p:nvSpPr>
        <p:spPr>
          <a:xfrm>
            <a:off x="1920240" y="1431037"/>
            <a:ext cx="1261872" cy="320040"/>
          </a:xfrm>
          <a:prstGeom prst="rect">
            <a:avLst/>
          </a:prstGeom>
          <a:noFill/>
          <a:ln/>
          <a:effectLst>
            <a:outerShdw blurRad="50800" dist="38100" dir="2700000" sx="102000" sy="102000" algn="tl" rotWithShape="0">
              <a:prstClr val="black">
                <a:alpha val="40000"/>
              </a:prstClr>
            </a:outerShdw>
          </a:effectLst>
        </p:spPr>
        <p:txBody>
          <a:bodyPr wrap="square" lIns="0" tIns="0" rIns="0" bIns="0" rtlCol="0" anchor="ctr"/>
          <a:lstStyle/>
          <a:p>
            <a:pPr marL="0" indent="0" algn="ctr">
              <a:buNone/>
            </a:pPr>
            <a:r>
              <a:rPr lang="en-US" sz="1800" b="1" dirty="0">
                <a:solidFill>
                  <a:srgbClr val="CADCFC"/>
                </a:solidFill>
              </a:rPr>
              <a:t>2</a:t>
            </a:r>
            <a:endParaRPr lang="en-US" sz="1800" dirty="0"/>
          </a:p>
        </p:txBody>
      </p:sp>
      <p:sp>
        <p:nvSpPr>
          <p:cNvPr id="11" name="Text 9"/>
          <p:cNvSpPr/>
          <p:nvPr/>
        </p:nvSpPr>
        <p:spPr>
          <a:xfrm>
            <a:off x="1920240" y="1778509"/>
            <a:ext cx="1261872" cy="228600"/>
          </a:xfrm>
          <a:prstGeom prst="rect">
            <a:avLst/>
          </a:prstGeom>
          <a:noFill/>
          <a:ln/>
          <a:effectLst>
            <a:outerShdw blurRad="50800" dist="38100" dir="2700000" sx="102000" sy="102000" algn="tl" rotWithShape="0">
              <a:prstClr val="black">
                <a:alpha val="40000"/>
              </a:prstClr>
            </a:outerShdw>
          </a:effectLst>
        </p:spPr>
        <p:txBody>
          <a:bodyPr wrap="square" lIns="0" tIns="0" rIns="0" bIns="0" rtlCol="0" anchor="ctr"/>
          <a:lstStyle/>
          <a:p>
            <a:pPr marL="0" indent="0" algn="ctr">
              <a:buNone/>
            </a:pPr>
            <a:r>
              <a:rPr lang="en-US" sz="850" b="1" dirty="0">
                <a:solidFill>
                  <a:srgbClr val="FFFFFF"/>
                </a:solidFill>
              </a:rPr>
              <a:t>Security</a:t>
            </a:r>
            <a:endParaRPr lang="en-US" sz="850" dirty="0"/>
          </a:p>
        </p:txBody>
      </p:sp>
      <p:sp>
        <p:nvSpPr>
          <p:cNvPr id="12" name="Text 10"/>
          <p:cNvSpPr/>
          <p:nvPr/>
        </p:nvSpPr>
        <p:spPr>
          <a:xfrm>
            <a:off x="1920240" y="2007109"/>
            <a:ext cx="1261872" cy="201168"/>
          </a:xfrm>
          <a:prstGeom prst="rect">
            <a:avLst/>
          </a:prstGeom>
          <a:noFill/>
          <a:ln/>
          <a:effectLst>
            <a:outerShdw blurRad="50800" dist="38100" dir="2700000" sx="102000" sy="102000" algn="tl" rotWithShape="0">
              <a:prstClr val="black">
                <a:alpha val="40000"/>
              </a:prstClr>
            </a:outerShdw>
          </a:effectLst>
        </p:spPr>
        <p:txBody>
          <a:bodyPr wrap="square" lIns="0" tIns="0" rIns="0" bIns="0" rtlCol="0" anchor="ctr"/>
          <a:lstStyle/>
          <a:p>
            <a:pPr marL="0" indent="0" algn="ctr">
              <a:buNone/>
            </a:pPr>
            <a:r>
              <a:rPr lang="en-US" sz="750" dirty="0">
                <a:solidFill>
                  <a:srgbClr val="CADCFC"/>
                </a:solidFill>
              </a:rPr>
              <a:t>Threat assessment</a:t>
            </a:r>
            <a:endParaRPr lang="en-US" sz="750" dirty="0"/>
          </a:p>
        </p:txBody>
      </p:sp>
      <p:sp>
        <p:nvSpPr>
          <p:cNvPr id="13" name="Shape 11"/>
          <p:cNvSpPr/>
          <p:nvPr/>
        </p:nvSpPr>
        <p:spPr>
          <a:xfrm>
            <a:off x="3291840" y="1376173"/>
            <a:ext cx="1261872" cy="960120"/>
          </a:xfrm>
          <a:prstGeom prst="roundRect">
            <a:avLst>
              <a:gd name="adj" fmla="val 7619"/>
            </a:avLst>
          </a:prstGeom>
          <a:solidFill>
            <a:srgbClr val="1E2761"/>
          </a:solidFill>
          <a:ln w="12700">
            <a:solidFill>
              <a:srgbClr val="1E2761"/>
            </a:solidFill>
            <a:prstDash val="solid"/>
          </a:ln>
          <a:effectLst>
            <a:outerShdw blurRad="50800" dist="38100" dir="2700000" sx="102000" sy="102000" algn="tl" rotWithShape="0">
              <a:prstClr val="black">
                <a:alpha val="40000"/>
              </a:prstClr>
            </a:outerShdw>
          </a:effectLst>
        </p:spPr>
      </p:sp>
      <p:sp>
        <p:nvSpPr>
          <p:cNvPr id="14" name="Text 12"/>
          <p:cNvSpPr/>
          <p:nvPr/>
        </p:nvSpPr>
        <p:spPr>
          <a:xfrm>
            <a:off x="3291840" y="1431037"/>
            <a:ext cx="1261872" cy="320040"/>
          </a:xfrm>
          <a:prstGeom prst="rect">
            <a:avLst/>
          </a:prstGeom>
          <a:noFill/>
          <a:ln/>
          <a:effectLst>
            <a:outerShdw blurRad="50800" dist="38100" dir="2700000" sx="102000" sy="102000" algn="tl" rotWithShape="0">
              <a:prstClr val="black">
                <a:alpha val="40000"/>
              </a:prstClr>
            </a:outerShdw>
          </a:effectLst>
        </p:spPr>
        <p:txBody>
          <a:bodyPr wrap="square" lIns="0" tIns="0" rIns="0" bIns="0" rtlCol="0" anchor="ctr"/>
          <a:lstStyle/>
          <a:p>
            <a:pPr marL="0" indent="0" algn="ctr">
              <a:buNone/>
            </a:pPr>
            <a:r>
              <a:rPr lang="en-US" sz="1800" b="1" dirty="0">
                <a:solidFill>
                  <a:srgbClr val="CADCFC"/>
                </a:solidFill>
              </a:rPr>
              <a:t>3</a:t>
            </a:r>
            <a:endParaRPr lang="en-US" sz="1800" dirty="0"/>
          </a:p>
        </p:txBody>
      </p:sp>
      <p:sp>
        <p:nvSpPr>
          <p:cNvPr id="15" name="Text 13"/>
          <p:cNvSpPr/>
          <p:nvPr/>
        </p:nvSpPr>
        <p:spPr>
          <a:xfrm>
            <a:off x="3291840" y="1778509"/>
            <a:ext cx="1261872" cy="228600"/>
          </a:xfrm>
          <a:prstGeom prst="rect">
            <a:avLst/>
          </a:prstGeom>
          <a:noFill/>
          <a:ln/>
          <a:effectLst>
            <a:outerShdw blurRad="50800" dist="38100" dir="2700000" sx="102000" sy="102000" algn="tl" rotWithShape="0">
              <a:prstClr val="black">
                <a:alpha val="40000"/>
              </a:prstClr>
            </a:outerShdw>
          </a:effectLst>
        </p:spPr>
        <p:txBody>
          <a:bodyPr wrap="square" lIns="0" tIns="0" rIns="0" bIns="0" rtlCol="0" anchor="ctr"/>
          <a:lstStyle/>
          <a:p>
            <a:pPr marL="0" indent="0" algn="ctr">
              <a:buNone/>
            </a:pPr>
            <a:r>
              <a:rPr lang="en-US" sz="850" b="1" dirty="0">
                <a:solidFill>
                  <a:srgbClr val="FFFFFF"/>
                </a:solidFill>
              </a:rPr>
              <a:t>Severity</a:t>
            </a:r>
            <a:endParaRPr lang="en-US" sz="850" dirty="0"/>
          </a:p>
        </p:txBody>
      </p:sp>
      <p:sp>
        <p:nvSpPr>
          <p:cNvPr id="16" name="Text 14"/>
          <p:cNvSpPr/>
          <p:nvPr/>
        </p:nvSpPr>
        <p:spPr>
          <a:xfrm>
            <a:off x="3291840" y="2007109"/>
            <a:ext cx="1261872" cy="201168"/>
          </a:xfrm>
          <a:prstGeom prst="rect">
            <a:avLst/>
          </a:prstGeom>
          <a:noFill/>
          <a:ln/>
          <a:effectLst>
            <a:outerShdw blurRad="50800" dist="38100" dir="2700000" sx="102000" sy="102000" algn="tl" rotWithShape="0">
              <a:prstClr val="black">
                <a:alpha val="40000"/>
              </a:prstClr>
            </a:outerShdw>
          </a:effectLst>
        </p:spPr>
        <p:txBody>
          <a:bodyPr wrap="square" lIns="0" tIns="0" rIns="0" bIns="0" rtlCol="0" anchor="ctr"/>
          <a:lstStyle/>
          <a:p>
            <a:pPr marL="0" indent="0" algn="ctr">
              <a:buNone/>
            </a:pPr>
            <a:r>
              <a:rPr lang="en-US" sz="750" dirty="0">
                <a:solidFill>
                  <a:srgbClr val="CADCFC"/>
                </a:solidFill>
              </a:rPr>
              <a:t>Level classification</a:t>
            </a:r>
            <a:endParaRPr lang="en-US" sz="750" dirty="0"/>
          </a:p>
        </p:txBody>
      </p:sp>
      <p:sp>
        <p:nvSpPr>
          <p:cNvPr id="17" name="Shape 15"/>
          <p:cNvSpPr/>
          <p:nvPr/>
        </p:nvSpPr>
        <p:spPr>
          <a:xfrm>
            <a:off x="566928" y="2874708"/>
            <a:ext cx="1261872" cy="960120"/>
          </a:xfrm>
          <a:prstGeom prst="roundRect">
            <a:avLst>
              <a:gd name="adj" fmla="val 7619"/>
            </a:avLst>
          </a:prstGeom>
          <a:solidFill>
            <a:srgbClr val="1E2761"/>
          </a:solidFill>
          <a:ln w="12700">
            <a:solidFill>
              <a:srgbClr val="1E2761"/>
            </a:solidFill>
            <a:prstDash val="solid"/>
          </a:ln>
          <a:effectLst>
            <a:outerShdw blurRad="50800" dist="38100" dir="2700000" sx="102000" sy="102000" algn="tl" rotWithShape="0">
              <a:prstClr val="black">
                <a:alpha val="40000"/>
              </a:prstClr>
            </a:outerShdw>
          </a:effectLst>
        </p:spPr>
      </p:sp>
      <p:sp>
        <p:nvSpPr>
          <p:cNvPr id="18" name="Text 16"/>
          <p:cNvSpPr/>
          <p:nvPr/>
        </p:nvSpPr>
        <p:spPr>
          <a:xfrm>
            <a:off x="566928" y="2929572"/>
            <a:ext cx="1261872" cy="320040"/>
          </a:xfrm>
          <a:prstGeom prst="rect">
            <a:avLst/>
          </a:prstGeom>
          <a:noFill/>
          <a:ln/>
          <a:effectLst>
            <a:outerShdw blurRad="50800" dist="38100" dir="2700000" sx="102000" sy="102000" algn="tl" rotWithShape="0">
              <a:prstClr val="black">
                <a:alpha val="40000"/>
              </a:prstClr>
            </a:outerShdw>
          </a:effectLst>
        </p:spPr>
        <p:txBody>
          <a:bodyPr wrap="square" lIns="0" tIns="0" rIns="0" bIns="0" rtlCol="0" anchor="ctr"/>
          <a:lstStyle/>
          <a:p>
            <a:pPr marL="0" indent="0" algn="ctr">
              <a:buNone/>
            </a:pPr>
            <a:r>
              <a:rPr lang="en-US" sz="1800" b="1" dirty="0">
                <a:solidFill>
                  <a:srgbClr val="CADCFC"/>
                </a:solidFill>
              </a:rPr>
              <a:t>4</a:t>
            </a:r>
            <a:endParaRPr lang="en-US" sz="1800" dirty="0"/>
          </a:p>
        </p:txBody>
      </p:sp>
      <p:sp>
        <p:nvSpPr>
          <p:cNvPr id="19" name="Text 17"/>
          <p:cNvSpPr/>
          <p:nvPr/>
        </p:nvSpPr>
        <p:spPr>
          <a:xfrm>
            <a:off x="566928" y="3277044"/>
            <a:ext cx="1261872" cy="228600"/>
          </a:xfrm>
          <a:prstGeom prst="rect">
            <a:avLst/>
          </a:prstGeom>
          <a:noFill/>
          <a:ln/>
          <a:effectLst>
            <a:outerShdw blurRad="50800" dist="38100" dir="2700000" sx="102000" sy="102000" algn="tl" rotWithShape="0">
              <a:prstClr val="black">
                <a:alpha val="40000"/>
              </a:prstClr>
            </a:outerShdw>
          </a:effectLst>
        </p:spPr>
        <p:txBody>
          <a:bodyPr wrap="square" lIns="0" tIns="0" rIns="0" bIns="0" rtlCol="0" anchor="ctr"/>
          <a:lstStyle/>
          <a:p>
            <a:pPr marL="0" indent="0" algn="ctr">
              <a:buNone/>
            </a:pPr>
            <a:r>
              <a:rPr lang="en-US" sz="850" b="1" dirty="0">
                <a:solidFill>
                  <a:srgbClr val="FFFFFF"/>
                </a:solidFill>
              </a:rPr>
              <a:t>Resource</a:t>
            </a:r>
            <a:endParaRPr lang="en-US" sz="850" dirty="0"/>
          </a:p>
        </p:txBody>
      </p:sp>
      <p:sp>
        <p:nvSpPr>
          <p:cNvPr id="20" name="Text 18"/>
          <p:cNvSpPr/>
          <p:nvPr/>
        </p:nvSpPr>
        <p:spPr>
          <a:xfrm>
            <a:off x="566928" y="3505644"/>
            <a:ext cx="1261872" cy="201168"/>
          </a:xfrm>
          <a:prstGeom prst="rect">
            <a:avLst/>
          </a:prstGeom>
          <a:noFill/>
          <a:ln/>
          <a:effectLst>
            <a:outerShdw blurRad="50800" dist="38100" dir="2700000" sx="102000" sy="102000" algn="tl" rotWithShape="0">
              <a:prstClr val="black">
                <a:alpha val="40000"/>
              </a:prstClr>
            </a:outerShdw>
          </a:effectLst>
        </p:spPr>
        <p:txBody>
          <a:bodyPr wrap="square" lIns="0" tIns="0" rIns="0" bIns="0" rtlCol="0" anchor="ctr"/>
          <a:lstStyle/>
          <a:p>
            <a:pPr marL="0" indent="0" algn="ctr">
              <a:buNone/>
            </a:pPr>
            <a:r>
              <a:rPr lang="en-US" sz="750" dirty="0">
                <a:solidFill>
                  <a:srgbClr val="CADCFC"/>
                </a:solidFill>
              </a:rPr>
              <a:t>Allocation plan</a:t>
            </a:r>
            <a:endParaRPr lang="en-US" sz="750" dirty="0"/>
          </a:p>
        </p:txBody>
      </p:sp>
      <p:sp>
        <p:nvSpPr>
          <p:cNvPr id="21" name="Shape 19"/>
          <p:cNvSpPr/>
          <p:nvPr/>
        </p:nvSpPr>
        <p:spPr>
          <a:xfrm>
            <a:off x="1938528" y="2874708"/>
            <a:ext cx="1261872" cy="960120"/>
          </a:xfrm>
          <a:prstGeom prst="roundRect">
            <a:avLst>
              <a:gd name="adj" fmla="val 7619"/>
            </a:avLst>
          </a:prstGeom>
          <a:solidFill>
            <a:srgbClr val="EEF2FF"/>
          </a:solidFill>
          <a:ln w="12700">
            <a:solidFill>
              <a:srgbClr val="D1D5DB"/>
            </a:solidFill>
            <a:prstDash val="solid"/>
          </a:ln>
          <a:effectLst>
            <a:outerShdw blurRad="50800" dist="38100" dir="2700000" sx="102000" sy="102000" algn="tl" rotWithShape="0">
              <a:prstClr val="black">
                <a:alpha val="40000"/>
              </a:prstClr>
            </a:outerShdw>
          </a:effectLst>
        </p:spPr>
      </p:sp>
      <p:sp>
        <p:nvSpPr>
          <p:cNvPr id="22" name="Text 20"/>
          <p:cNvSpPr/>
          <p:nvPr/>
        </p:nvSpPr>
        <p:spPr>
          <a:xfrm>
            <a:off x="1938528" y="2929572"/>
            <a:ext cx="1261872" cy="320040"/>
          </a:xfrm>
          <a:prstGeom prst="rect">
            <a:avLst/>
          </a:prstGeom>
          <a:noFill/>
          <a:ln/>
          <a:effectLst>
            <a:outerShdw blurRad="50800" dist="38100" dir="2700000" sx="102000" sy="102000" algn="tl" rotWithShape="0">
              <a:prstClr val="black">
                <a:alpha val="40000"/>
              </a:prstClr>
            </a:outerShdw>
          </a:effectLst>
        </p:spPr>
        <p:txBody>
          <a:bodyPr wrap="square" lIns="0" tIns="0" rIns="0" bIns="0" rtlCol="0" anchor="ctr"/>
          <a:lstStyle/>
          <a:p>
            <a:pPr marL="0" indent="0" algn="ctr">
              <a:buNone/>
            </a:pPr>
            <a:r>
              <a:rPr lang="en-US" sz="1800" b="1" dirty="0">
                <a:solidFill>
                  <a:srgbClr val="1E2761"/>
                </a:solidFill>
              </a:rPr>
              <a:t>5</a:t>
            </a:r>
            <a:endParaRPr lang="en-US" sz="1800" dirty="0"/>
          </a:p>
        </p:txBody>
      </p:sp>
      <p:sp>
        <p:nvSpPr>
          <p:cNvPr id="23" name="Text 21"/>
          <p:cNvSpPr/>
          <p:nvPr/>
        </p:nvSpPr>
        <p:spPr>
          <a:xfrm>
            <a:off x="1938528" y="3277044"/>
            <a:ext cx="1261872" cy="228600"/>
          </a:xfrm>
          <a:prstGeom prst="rect">
            <a:avLst/>
          </a:prstGeom>
          <a:noFill/>
          <a:ln/>
          <a:effectLst>
            <a:outerShdw blurRad="50800" dist="38100" dir="2700000" sx="102000" sy="102000" algn="tl" rotWithShape="0">
              <a:prstClr val="black">
                <a:alpha val="40000"/>
              </a:prstClr>
            </a:outerShdw>
          </a:effectLst>
        </p:spPr>
        <p:txBody>
          <a:bodyPr wrap="square" lIns="0" tIns="0" rIns="0" bIns="0" rtlCol="0" anchor="ctr"/>
          <a:lstStyle/>
          <a:p>
            <a:pPr marL="0" indent="0" algn="ctr">
              <a:buNone/>
            </a:pPr>
            <a:r>
              <a:rPr lang="en-US" sz="850" b="1" dirty="0">
                <a:solidFill>
                  <a:srgbClr val="1E293B"/>
                </a:solidFill>
              </a:rPr>
              <a:t>Human</a:t>
            </a:r>
            <a:endParaRPr lang="en-US" sz="850" dirty="0"/>
          </a:p>
        </p:txBody>
      </p:sp>
      <p:sp>
        <p:nvSpPr>
          <p:cNvPr id="24" name="Text 22"/>
          <p:cNvSpPr/>
          <p:nvPr/>
        </p:nvSpPr>
        <p:spPr>
          <a:xfrm>
            <a:off x="1938528" y="3505644"/>
            <a:ext cx="1261872" cy="201168"/>
          </a:xfrm>
          <a:prstGeom prst="rect">
            <a:avLst/>
          </a:prstGeom>
          <a:noFill/>
          <a:ln/>
          <a:effectLst>
            <a:outerShdw blurRad="50800" dist="38100" dir="2700000" sx="102000" sy="102000" algn="tl" rotWithShape="0">
              <a:prstClr val="black">
                <a:alpha val="40000"/>
              </a:prstClr>
            </a:outerShdw>
          </a:effectLst>
        </p:spPr>
        <p:txBody>
          <a:bodyPr wrap="square" lIns="0" tIns="0" rIns="0" bIns="0" rtlCol="0" anchor="ctr"/>
          <a:lstStyle/>
          <a:p>
            <a:pPr marL="0" indent="0" algn="ctr">
              <a:buNone/>
            </a:pPr>
            <a:r>
              <a:rPr lang="en-US" sz="750" dirty="0">
                <a:solidFill>
                  <a:srgbClr val="64748B"/>
                </a:solidFill>
              </a:rPr>
              <a:t>Review gate</a:t>
            </a:r>
            <a:endParaRPr lang="en-US" sz="750" dirty="0"/>
          </a:p>
        </p:txBody>
      </p:sp>
      <p:sp>
        <p:nvSpPr>
          <p:cNvPr id="25" name="Shape 23"/>
          <p:cNvSpPr/>
          <p:nvPr/>
        </p:nvSpPr>
        <p:spPr>
          <a:xfrm>
            <a:off x="3310128" y="2874708"/>
            <a:ext cx="1261872" cy="960120"/>
          </a:xfrm>
          <a:prstGeom prst="roundRect">
            <a:avLst>
              <a:gd name="adj" fmla="val 7619"/>
            </a:avLst>
          </a:prstGeom>
          <a:solidFill>
            <a:srgbClr val="EEF2FF"/>
          </a:solidFill>
          <a:ln w="12700">
            <a:solidFill>
              <a:srgbClr val="D1D5DB"/>
            </a:solidFill>
            <a:prstDash val="solid"/>
          </a:ln>
          <a:effectLst>
            <a:outerShdw blurRad="50800" dist="38100" dir="2700000" sx="102000" sy="102000" algn="tl" rotWithShape="0">
              <a:prstClr val="black">
                <a:alpha val="40000"/>
              </a:prstClr>
            </a:outerShdw>
          </a:effectLst>
        </p:spPr>
      </p:sp>
      <p:sp>
        <p:nvSpPr>
          <p:cNvPr id="26" name="Text 24"/>
          <p:cNvSpPr/>
          <p:nvPr/>
        </p:nvSpPr>
        <p:spPr>
          <a:xfrm>
            <a:off x="3310128" y="2929572"/>
            <a:ext cx="1261872" cy="320040"/>
          </a:xfrm>
          <a:prstGeom prst="rect">
            <a:avLst/>
          </a:prstGeom>
          <a:noFill/>
          <a:ln/>
          <a:effectLst>
            <a:outerShdw blurRad="50800" dist="38100" dir="2700000" sx="102000" sy="102000" algn="tl" rotWithShape="0">
              <a:prstClr val="black">
                <a:alpha val="40000"/>
              </a:prstClr>
            </a:outerShdw>
          </a:effectLst>
        </p:spPr>
        <p:txBody>
          <a:bodyPr wrap="square" lIns="0" tIns="0" rIns="0" bIns="0" rtlCol="0" anchor="ctr"/>
          <a:lstStyle/>
          <a:p>
            <a:pPr marL="0" indent="0" algn="ctr">
              <a:buNone/>
            </a:pPr>
            <a:r>
              <a:rPr lang="en-US" sz="1800" b="1" dirty="0">
                <a:solidFill>
                  <a:srgbClr val="1E2761"/>
                </a:solidFill>
              </a:rPr>
              <a:t>6</a:t>
            </a:r>
            <a:endParaRPr lang="en-US" sz="1800" dirty="0"/>
          </a:p>
        </p:txBody>
      </p:sp>
      <p:sp>
        <p:nvSpPr>
          <p:cNvPr id="27" name="Text 25"/>
          <p:cNvSpPr/>
          <p:nvPr/>
        </p:nvSpPr>
        <p:spPr>
          <a:xfrm>
            <a:off x="3310128" y="3277044"/>
            <a:ext cx="1261872" cy="228600"/>
          </a:xfrm>
          <a:prstGeom prst="rect">
            <a:avLst/>
          </a:prstGeom>
          <a:noFill/>
          <a:ln/>
          <a:effectLst>
            <a:outerShdw blurRad="50800" dist="38100" dir="2700000" sx="102000" sy="102000" algn="tl" rotWithShape="0">
              <a:prstClr val="black">
                <a:alpha val="40000"/>
              </a:prstClr>
            </a:outerShdw>
          </a:effectLst>
        </p:spPr>
        <p:txBody>
          <a:bodyPr wrap="square" lIns="0" tIns="0" rIns="0" bIns="0" rtlCol="0" anchor="ctr"/>
          <a:lstStyle/>
          <a:p>
            <a:pPr marL="0" indent="0" algn="ctr">
              <a:buNone/>
            </a:pPr>
            <a:r>
              <a:rPr lang="en-US" sz="850" b="1" dirty="0">
                <a:solidFill>
                  <a:srgbClr val="1E293B"/>
                </a:solidFill>
              </a:rPr>
              <a:t>Notify</a:t>
            </a:r>
            <a:endParaRPr lang="en-US" sz="850" dirty="0"/>
          </a:p>
        </p:txBody>
      </p:sp>
      <p:sp>
        <p:nvSpPr>
          <p:cNvPr id="28" name="Text 26"/>
          <p:cNvSpPr/>
          <p:nvPr/>
        </p:nvSpPr>
        <p:spPr>
          <a:xfrm>
            <a:off x="3310128" y="3505644"/>
            <a:ext cx="1261872" cy="201168"/>
          </a:xfrm>
          <a:prstGeom prst="rect">
            <a:avLst/>
          </a:prstGeom>
          <a:noFill/>
          <a:ln/>
          <a:effectLst>
            <a:outerShdw blurRad="50800" dist="38100" dir="2700000" sx="102000" sy="102000" algn="tl" rotWithShape="0">
              <a:prstClr val="black">
                <a:alpha val="40000"/>
              </a:prstClr>
            </a:outerShdw>
          </a:effectLst>
        </p:spPr>
        <p:txBody>
          <a:bodyPr wrap="square" lIns="0" tIns="0" rIns="0" bIns="0" rtlCol="0" anchor="ctr"/>
          <a:lstStyle/>
          <a:p>
            <a:pPr marL="0" indent="0" algn="ctr">
              <a:buNone/>
            </a:pPr>
            <a:r>
              <a:rPr lang="en-US" sz="750" dirty="0">
                <a:solidFill>
                  <a:srgbClr val="64748B"/>
                </a:solidFill>
              </a:rPr>
              <a:t>Alert dispatch</a:t>
            </a:r>
            <a:endParaRPr lang="en-US" sz="750" dirty="0"/>
          </a:p>
        </p:txBody>
      </p:sp>
      <p:sp>
        <p:nvSpPr>
          <p:cNvPr id="29" name="Shape 27"/>
          <p:cNvSpPr/>
          <p:nvPr/>
        </p:nvSpPr>
        <p:spPr>
          <a:xfrm>
            <a:off x="1810512" y="1851661"/>
            <a:ext cx="201168" cy="0"/>
          </a:xfrm>
          <a:prstGeom prst="line">
            <a:avLst/>
          </a:prstGeom>
          <a:noFill/>
          <a:ln w="19050">
            <a:solidFill>
              <a:srgbClr val="64748B"/>
            </a:solidFill>
            <a:prstDash val="solid"/>
            <a:tailEnd type="triangle"/>
          </a:ln>
          <a:effectLst>
            <a:outerShdw blurRad="50800" dist="38100" dir="2700000" sx="102000" sy="102000" algn="tl" rotWithShape="0">
              <a:prstClr val="black">
                <a:alpha val="40000"/>
              </a:prstClr>
            </a:outerShdw>
          </a:effectLst>
        </p:spPr>
      </p:sp>
      <p:sp>
        <p:nvSpPr>
          <p:cNvPr id="30" name="Shape 28"/>
          <p:cNvSpPr/>
          <p:nvPr/>
        </p:nvSpPr>
        <p:spPr>
          <a:xfrm>
            <a:off x="3182112" y="1851661"/>
            <a:ext cx="201168" cy="0"/>
          </a:xfrm>
          <a:prstGeom prst="line">
            <a:avLst/>
          </a:prstGeom>
          <a:noFill/>
          <a:ln w="19050">
            <a:solidFill>
              <a:srgbClr val="64748B"/>
            </a:solidFill>
            <a:prstDash val="solid"/>
            <a:tailEnd type="triangle"/>
          </a:ln>
          <a:effectLst>
            <a:outerShdw blurRad="50800" dist="38100" dir="2700000" sx="102000" sy="102000" algn="tl" rotWithShape="0">
              <a:prstClr val="black">
                <a:alpha val="40000"/>
              </a:prstClr>
            </a:outerShdw>
          </a:effectLst>
        </p:spPr>
      </p:sp>
      <p:sp>
        <p:nvSpPr>
          <p:cNvPr id="32" name="Shape 30"/>
          <p:cNvSpPr/>
          <p:nvPr/>
        </p:nvSpPr>
        <p:spPr>
          <a:xfrm>
            <a:off x="3200400" y="3350196"/>
            <a:ext cx="201168" cy="0"/>
          </a:xfrm>
          <a:prstGeom prst="line">
            <a:avLst/>
          </a:prstGeom>
          <a:noFill/>
          <a:ln w="19050">
            <a:solidFill>
              <a:srgbClr val="64748B"/>
            </a:solidFill>
            <a:prstDash val="solid"/>
            <a:tailEnd type="triangle"/>
          </a:ln>
          <a:effectLst>
            <a:outerShdw blurRad="50800" dist="38100" dir="2700000" sx="102000" sy="102000" algn="tl" rotWithShape="0">
              <a:prstClr val="black">
                <a:alpha val="40000"/>
              </a:prstClr>
            </a:outerShdw>
          </a:effectLst>
        </p:spPr>
      </p:sp>
      <p:sp>
        <p:nvSpPr>
          <p:cNvPr id="33" name="Shape 31"/>
          <p:cNvSpPr/>
          <p:nvPr/>
        </p:nvSpPr>
        <p:spPr>
          <a:xfrm>
            <a:off x="1828800" y="3350196"/>
            <a:ext cx="201168" cy="0"/>
          </a:xfrm>
          <a:prstGeom prst="line">
            <a:avLst/>
          </a:prstGeom>
          <a:noFill/>
          <a:ln w="19050">
            <a:solidFill>
              <a:srgbClr val="64748B"/>
            </a:solidFill>
            <a:prstDash val="solid"/>
            <a:tailEnd type="triangle"/>
          </a:ln>
          <a:effectLst>
            <a:outerShdw blurRad="50800" dist="38100" dir="2700000" sx="102000" sy="102000" algn="tl" rotWithShape="0">
              <a:prstClr val="black">
                <a:alpha val="40000"/>
              </a:prstClr>
            </a:outerShdw>
          </a:effectLst>
        </p:spPr>
      </p:sp>
      <p:sp>
        <p:nvSpPr>
          <p:cNvPr id="34" name="Shape 32"/>
          <p:cNvSpPr/>
          <p:nvPr/>
        </p:nvSpPr>
        <p:spPr>
          <a:xfrm>
            <a:off x="4892040" y="1234440"/>
            <a:ext cx="3886200" cy="3520440"/>
          </a:xfrm>
          <a:prstGeom prst="roundRect">
            <a:avLst>
              <a:gd name="adj" fmla="val 2597"/>
            </a:avLst>
          </a:prstGeom>
          <a:solidFill>
            <a:srgbClr val="0F172A"/>
          </a:solidFill>
          <a:ln w="12700">
            <a:solidFill>
              <a:srgbClr val="1E293B"/>
            </a:solidFill>
            <a:prstDash val="solid"/>
          </a:ln>
        </p:spPr>
      </p:sp>
      <p:sp>
        <p:nvSpPr>
          <p:cNvPr id="35" name="Text 33"/>
          <p:cNvSpPr/>
          <p:nvPr/>
        </p:nvSpPr>
        <p:spPr>
          <a:xfrm>
            <a:off x="4983480" y="1325880"/>
            <a:ext cx="3703320" cy="228600"/>
          </a:xfrm>
          <a:prstGeom prst="rect">
            <a:avLst/>
          </a:prstGeom>
          <a:noFill/>
          <a:ln/>
        </p:spPr>
        <p:txBody>
          <a:bodyPr wrap="square" lIns="0" tIns="0" rIns="0" bIns="0" rtlCol="0" anchor="ctr"/>
          <a:lstStyle/>
          <a:p>
            <a:pPr marL="0" indent="0">
              <a:buNone/>
            </a:pPr>
            <a:r>
              <a:rPr lang="en-US" sz="900" b="1" dirty="0">
                <a:solidFill>
                  <a:srgbClr val="94A3B8"/>
                </a:solidFill>
              </a:rPr>
              <a:t>Sample Response</a:t>
            </a:r>
            <a:endParaRPr lang="en-US" sz="900" dirty="0"/>
          </a:p>
        </p:txBody>
      </p:sp>
      <p:sp>
        <p:nvSpPr>
          <p:cNvPr id="36" name="Text 34"/>
          <p:cNvSpPr/>
          <p:nvPr/>
        </p:nvSpPr>
        <p:spPr>
          <a:xfrm>
            <a:off x="4983480" y="1572768"/>
            <a:ext cx="3703320" cy="201168"/>
          </a:xfrm>
          <a:prstGeom prst="rect">
            <a:avLst/>
          </a:prstGeom>
          <a:noFill/>
          <a:ln/>
        </p:spPr>
        <p:txBody>
          <a:bodyPr wrap="square" lIns="0" tIns="0" rIns="0" bIns="0" rtlCol="0" anchor="ctr"/>
          <a:lstStyle/>
          <a:p>
            <a:pPr marL="0" indent="0">
              <a:buNone/>
            </a:pPr>
            <a:r>
              <a:rPr lang="en-US" sz="800" dirty="0">
                <a:solidFill>
                  <a:srgbClr val="94A3B8"/>
                </a:solidFill>
                <a:latin typeface="Courier New" pitchFamily="34" charset="0"/>
                <a:ea typeface="Courier New" pitchFamily="34" charset="-122"/>
                <a:cs typeface="Courier New" pitchFamily="34" charset="-120"/>
              </a:rPr>
              <a:t>{</a:t>
            </a:r>
            <a:endParaRPr lang="en-US" sz="800" dirty="0"/>
          </a:p>
        </p:txBody>
      </p:sp>
      <p:sp>
        <p:nvSpPr>
          <p:cNvPr id="37" name="Text 35"/>
          <p:cNvSpPr/>
          <p:nvPr/>
        </p:nvSpPr>
        <p:spPr>
          <a:xfrm>
            <a:off x="4983480" y="1764792"/>
            <a:ext cx="3703320" cy="201168"/>
          </a:xfrm>
          <a:prstGeom prst="rect">
            <a:avLst/>
          </a:prstGeom>
          <a:noFill/>
          <a:ln/>
        </p:spPr>
        <p:txBody>
          <a:bodyPr wrap="square" lIns="0" tIns="0" rIns="0" bIns="0" rtlCol="0" anchor="ctr"/>
          <a:lstStyle/>
          <a:p>
            <a:pPr marL="0" indent="0">
              <a:buNone/>
            </a:pPr>
            <a:r>
              <a:rPr lang="en-US" sz="800" dirty="0">
                <a:solidFill>
                  <a:srgbClr val="7DD3FC"/>
                </a:solidFill>
                <a:latin typeface="Courier New" pitchFamily="34" charset="0"/>
                <a:ea typeface="Courier New" pitchFamily="34" charset="-122"/>
                <a:cs typeface="Courier New" pitchFamily="34" charset="-120"/>
              </a:rPr>
              <a:t>  "severity": </a:t>
            </a:r>
            <a:endParaRPr lang="en-US" sz="800" dirty="0"/>
          </a:p>
        </p:txBody>
      </p:sp>
      <p:sp>
        <p:nvSpPr>
          <p:cNvPr id="38" name="Text 36"/>
          <p:cNvSpPr/>
          <p:nvPr/>
        </p:nvSpPr>
        <p:spPr>
          <a:xfrm>
            <a:off x="4983480" y="1956816"/>
            <a:ext cx="3703320" cy="201168"/>
          </a:xfrm>
          <a:prstGeom prst="rect">
            <a:avLst/>
          </a:prstGeom>
          <a:noFill/>
          <a:ln/>
        </p:spPr>
        <p:txBody>
          <a:bodyPr wrap="square" lIns="0" tIns="0" rIns="0" bIns="0" rtlCol="0" anchor="ctr"/>
          <a:lstStyle/>
          <a:p>
            <a:pPr marL="0" indent="0">
              <a:buNone/>
            </a:pPr>
            <a:r>
              <a:rPr lang="en-US" sz="800" dirty="0">
                <a:solidFill>
                  <a:srgbClr val="86EFAC"/>
                </a:solidFill>
                <a:latin typeface="Courier New" pitchFamily="34" charset="0"/>
                <a:ea typeface="Courier New" pitchFamily="34" charset="-122"/>
                <a:cs typeface="Courier New" pitchFamily="34" charset="-120"/>
              </a:rPr>
              <a:t>"CRITICAL",</a:t>
            </a:r>
            <a:endParaRPr lang="en-US" sz="800" dirty="0"/>
          </a:p>
        </p:txBody>
      </p:sp>
      <p:sp>
        <p:nvSpPr>
          <p:cNvPr id="39" name="Text 37"/>
          <p:cNvSpPr/>
          <p:nvPr/>
        </p:nvSpPr>
        <p:spPr>
          <a:xfrm>
            <a:off x="4983480" y="2148840"/>
            <a:ext cx="3703320" cy="201168"/>
          </a:xfrm>
          <a:prstGeom prst="rect">
            <a:avLst/>
          </a:prstGeom>
          <a:noFill/>
          <a:ln/>
        </p:spPr>
        <p:txBody>
          <a:bodyPr wrap="square" lIns="0" tIns="0" rIns="0" bIns="0" rtlCol="0" anchor="ctr"/>
          <a:lstStyle/>
          <a:p>
            <a:pPr marL="0" indent="0">
              <a:buNone/>
            </a:pPr>
            <a:r>
              <a:rPr lang="en-US" sz="800" dirty="0">
                <a:solidFill>
                  <a:srgbClr val="7DD3FC"/>
                </a:solidFill>
                <a:latin typeface="Courier New" pitchFamily="34" charset="0"/>
                <a:ea typeface="Courier New" pitchFamily="34" charset="-122"/>
                <a:cs typeface="Courier New" pitchFamily="34" charset="-120"/>
              </a:rPr>
              <a:t>  "security_status": </a:t>
            </a:r>
            <a:endParaRPr lang="en-US" sz="800" dirty="0"/>
          </a:p>
        </p:txBody>
      </p:sp>
      <p:sp>
        <p:nvSpPr>
          <p:cNvPr id="40" name="Text 38"/>
          <p:cNvSpPr/>
          <p:nvPr/>
        </p:nvSpPr>
        <p:spPr>
          <a:xfrm>
            <a:off x="4983480" y="2340864"/>
            <a:ext cx="3703320" cy="201168"/>
          </a:xfrm>
          <a:prstGeom prst="rect">
            <a:avLst/>
          </a:prstGeom>
          <a:noFill/>
          <a:ln/>
        </p:spPr>
        <p:txBody>
          <a:bodyPr wrap="square" lIns="0" tIns="0" rIns="0" bIns="0" rtlCol="0" anchor="ctr"/>
          <a:lstStyle/>
          <a:p>
            <a:pPr marL="0" indent="0">
              <a:buNone/>
            </a:pPr>
            <a:r>
              <a:rPr lang="en-US" sz="800" dirty="0">
                <a:solidFill>
                  <a:srgbClr val="86EFAC"/>
                </a:solidFill>
                <a:latin typeface="Courier New" pitchFamily="34" charset="0"/>
                <a:ea typeface="Courier New" pitchFamily="34" charset="-122"/>
                <a:cs typeface="Courier New" pitchFamily="34" charset="-120"/>
              </a:rPr>
              <a:t>"PASSED",</a:t>
            </a:r>
            <a:endParaRPr lang="en-US" sz="800" dirty="0"/>
          </a:p>
        </p:txBody>
      </p:sp>
      <p:sp>
        <p:nvSpPr>
          <p:cNvPr id="41" name="Text 39"/>
          <p:cNvSpPr/>
          <p:nvPr/>
        </p:nvSpPr>
        <p:spPr>
          <a:xfrm>
            <a:off x="4983480" y="2532888"/>
            <a:ext cx="3703320" cy="201168"/>
          </a:xfrm>
          <a:prstGeom prst="rect">
            <a:avLst/>
          </a:prstGeom>
          <a:noFill/>
          <a:ln/>
        </p:spPr>
        <p:txBody>
          <a:bodyPr wrap="square" lIns="0" tIns="0" rIns="0" bIns="0" rtlCol="0" anchor="ctr"/>
          <a:lstStyle/>
          <a:p>
            <a:pPr marL="0" indent="0">
              <a:buNone/>
            </a:pPr>
            <a:r>
              <a:rPr lang="en-US" sz="800" dirty="0">
                <a:solidFill>
                  <a:srgbClr val="7DD3FC"/>
                </a:solidFill>
                <a:latin typeface="Courier New" pitchFamily="34" charset="0"/>
                <a:ea typeface="Courier New" pitchFamily="34" charset="-122"/>
                <a:cs typeface="Courier New" pitchFamily="34" charset="-120"/>
              </a:rPr>
              <a:t>  "recommended_resources": [</a:t>
            </a:r>
            <a:endParaRPr lang="en-US" sz="800" dirty="0"/>
          </a:p>
        </p:txBody>
      </p:sp>
      <p:sp>
        <p:nvSpPr>
          <p:cNvPr id="42" name="Text 40"/>
          <p:cNvSpPr/>
          <p:nvPr/>
        </p:nvSpPr>
        <p:spPr>
          <a:xfrm>
            <a:off x="4983480" y="2724912"/>
            <a:ext cx="3703320" cy="201168"/>
          </a:xfrm>
          <a:prstGeom prst="rect">
            <a:avLst/>
          </a:prstGeom>
          <a:noFill/>
          <a:ln/>
        </p:spPr>
        <p:txBody>
          <a:bodyPr wrap="square" lIns="0" tIns="0" rIns="0" bIns="0" rtlCol="0" anchor="ctr"/>
          <a:lstStyle/>
          <a:p>
            <a:pPr marL="0" indent="0">
              <a:buNone/>
            </a:pPr>
            <a:r>
              <a:rPr lang="en-US" sz="800" dirty="0">
                <a:solidFill>
                  <a:srgbClr val="FCA5A5"/>
                </a:solidFill>
                <a:latin typeface="Courier New" pitchFamily="34" charset="0"/>
                <a:ea typeface="Courier New" pitchFamily="34" charset="-122"/>
                <a:cs typeface="Courier New" pitchFamily="34" charset="-120"/>
              </a:rPr>
              <a:t>    "Rescue Team", "Ambulance"</a:t>
            </a:r>
            <a:endParaRPr lang="en-US" sz="800" dirty="0"/>
          </a:p>
        </p:txBody>
      </p:sp>
      <p:sp>
        <p:nvSpPr>
          <p:cNvPr id="43" name="Text 41"/>
          <p:cNvSpPr/>
          <p:nvPr/>
        </p:nvSpPr>
        <p:spPr>
          <a:xfrm>
            <a:off x="4983480" y="2916936"/>
            <a:ext cx="3703320" cy="201168"/>
          </a:xfrm>
          <a:prstGeom prst="rect">
            <a:avLst/>
          </a:prstGeom>
          <a:noFill/>
          <a:ln/>
        </p:spPr>
        <p:txBody>
          <a:bodyPr wrap="square" lIns="0" tIns="0" rIns="0" bIns="0" rtlCol="0" anchor="ctr"/>
          <a:lstStyle/>
          <a:p>
            <a:pPr marL="0" indent="0">
              <a:buNone/>
            </a:pPr>
            <a:r>
              <a:rPr lang="en-US" sz="800" dirty="0">
                <a:solidFill>
                  <a:srgbClr val="7DD3FC"/>
                </a:solidFill>
                <a:latin typeface="Courier New" pitchFamily="34" charset="0"/>
                <a:ea typeface="Courier New" pitchFamily="34" charset="-122"/>
                <a:cs typeface="Courier New" pitchFamily="34" charset="-120"/>
              </a:rPr>
              <a:t>  ],</a:t>
            </a:r>
            <a:endParaRPr lang="en-US" sz="800" dirty="0"/>
          </a:p>
        </p:txBody>
      </p:sp>
      <p:sp>
        <p:nvSpPr>
          <p:cNvPr id="44" name="Text 42"/>
          <p:cNvSpPr/>
          <p:nvPr/>
        </p:nvSpPr>
        <p:spPr>
          <a:xfrm>
            <a:off x="4983480" y="3108960"/>
            <a:ext cx="3703320" cy="201168"/>
          </a:xfrm>
          <a:prstGeom prst="rect">
            <a:avLst/>
          </a:prstGeom>
          <a:noFill/>
          <a:ln/>
        </p:spPr>
        <p:txBody>
          <a:bodyPr wrap="square" lIns="0" tIns="0" rIns="0" bIns="0" rtlCol="0" anchor="ctr"/>
          <a:lstStyle/>
          <a:p>
            <a:pPr marL="0" indent="0">
              <a:buNone/>
            </a:pPr>
            <a:r>
              <a:rPr lang="en-US" sz="800" dirty="0">
                <a:solidFill>
                  <a:srgbClr val="7DD3FC"/>
                </a:solidFill>
                <a:latin typeface="Courier New" pitchFamily="34" charset="0"/>
                <a:ea typeface="Courier New" pitchFamily="34" charset="-122"/>
                <a:cs typeface="Courier New" pitchFamily="34" charset="-120"/>
              </a:rPr>
              <a:t>  "notifications": [</a:t>
            </a:r>
            <a:endParaRPr lang="en-US" sz="800" dirty="0"/>
          </a:p>
        </p:txBody>
      </p:sp>
      <p:sp>
        <p:nvSpPr>
          <p:cNvPr id="45" name="Text 43"/>
          <p:cNvSpPr/>
          <p:nvPr/>
        </p:nvSpPr>
        <p:spPr>
          <a:xfrm>
            <a:off x="4983480" y="3300984"/>
            <a:ext cx="3703320" cy="201168"/>
          </a:xfrm>
          <a:prstGeom prst="rect">
            <a:avLst/>
          </a:prstGeom>
          <a:noFill/>
          <a:ln/>
        </p:spPr>
        <p:txBody>
          <a:bodyPr wrap="square" lIns="0" tIns="0" rIns="0" bIns="0" rtlCol="0" anchor="ctr"/>
          <a:lstStyle/>
          <a:p>
            <a:pPr marL="0" indent="0">
              <a:buNone/>
            </a:pPr>
            <a:r>
              <a:rPr lang="en-US" sz="800" dirty="0">
                <a:solidFill>
                  <a:srgbClr val="FDE68A"/>
                </a:solidFill>
                <a:latin typeface="Courier New" pitchFamily="34" charset="0"/>
                <a:ea typeface="Courier New" pitchFamily="34" charset="-122"/>
                <a:cs typeface="Courier New" pitchFamily="34" charset="-120"/>
              </a:rPr>
              <a:t>    "RESCUE ALERT: Deploy now."</a:t>
            </a:r>
            <a:endParaRPr lang="en-US" sz="800" dirty="0"/>
          </a:p>
        </p:txBody>
      </p:sp>
      <p:sp>
        <p:nvSpPr>
          <p:cNvPr id="46" name="Text 44"/>
          <p:cNvSpPr/>
          <p:nvPr/>
        </p:nvSpPr>
        <p:spPr>
          <a:xfrm>
            <a:off x="4983480" y="3493008"/>
            <a:ext cx="3703320" cy="201168"/>
          </a:xfrm>
          <a:prstGeom prst="rect">
            <a:avLst/>
          </a:prstGeom>
          <a:noFill/>
          <a:ln/>
        </p:spPr>
        <p:txBody>
          <a:bodyPr wrap="square" lIns="0" tIns="0" rIns="0" bIns="0" rtlCol="0" anchor="ctr"/>
          <a:lstStyle/>
          <a:p>
            <a:pPr marL="0" indent="0">
              <a:buNone/>
            </a:pPr>
            <a:r>
              <a:rPr lang="en-US" sz="800" dirty="0">
                <a:solidFill>
                  <a:srgbClr val="7DD3FC"/>
                </a:solidFill>
                <a:latin typeface="Courier New" pitchFamily="34" charset="0"/>
                <a:ea typeface="Courier New" pitchFamily="34" charset="-122"/>
                <a:cs typeface="Courier New" pitchFamily="34" charset="-120"/>
              </a:rPr>
              <a:t>  ],</a:t>
            </a:r>
            <a:endParaRPr lang="en-US" sz="800" dirty="0"/>
          </a:p>
        </p:txBody>
      </p:sp>
      <p:sp>
        <p:nvSpPr>
          <p:cNvPr id="47" name="Text 45"/>
          <p:cNvSpPr/>
          <p:nvPr/>
        </p:nvSpPr>
        <p:spPr>
          <a:xfrm>
            <a:off x="4983480" y="3685032"/>
            <a:ext cx="3703320" cy="201168"/>
          </a:xfrm>
          <a:prstGeom prst="rect">
            <a:avLst/>
          </a:prstGeom>
          <a:noFill/>
          <a:ln/>
        </p:spPr>
        <p:txBody>
          <a:bodyPr wrap="square" lIns="0" tIns="0" rIns="0" bIns="0" rtlCol="0" anchor="ctr"/>
          <a:lstStyle/>
          <a:p>
            <a:pPr marL="0" indent="0">
              <a:buNone/>
            </a:pPr>
            <a:r>
              <a:rPr lang="en-US" sz="800" dirty="0">
                <a:solidFill>
                  <a:srgbClr val="7DD3FC"/>
                </a:solidFill>
                <a:latin typeface="Courier New" pitchFamily="34" charset="0"/>
                <a:ea typeface="Courier New" pitchFamily="34" charset="-122"/>
                <a:cs typeface="Courier New" pitchFamily="34" charset="-120"/>
              </a:rPr>
              <a:t>  "review_status": </a:t>
            </a:r>
            <a:endParaRPr lang="en-US" sz="800" dirty="0"/>
          </a:p>
        </p:txBody>
      </p:sp>
      <p:sp>
        <p:nvSpPr>
          <p:cNvPr id="48" name="Text 46"/>
          <p:cNvSpPr/>
          <p:nvPr/>
        </p:nvSpPr>
        <p:spPr>
          <a:xfrm>
            <a:off x="4983480" y="3877056"/>
            <a:ext cx="3703320" cy="201168"/>
          </a:xfrm>
          <a:prstGeom prst="rect">
            <a:avLst/>
          </a:prstGeom>
          <a:noFill/>
          <a:ln/>
        </p:spPr>
        <p:txBody>
          <a:bodyPr wrap="square" lIns="0" tIns="0" rIns="0" bIns="0" rtlCol="0" anchor="ctr"/>
          <a:lstStyle/>
          <a:p>
            <a:pPr marL="0" indent="0">
              <a:buNone/>
            </a:pPr>
            <a:r>
              <a:rPr lang="en-US" sz="800" dirty="0">
                <a:solidFill>
                  <a:srgbClr val="86EFAC"/>
                </a:solidFill>
                <a:latin typeface="Courier New" pitchFamily="34" charset="0"/>
                <a:ea typeface="Courier New" pitchFamily="34" charset="-122"/>
                <a:cs typeface="Courier New" pitchFamily="34" charset="-120"/>
              </a:rPr>
              <a:t>"APPROVED"</a:t>
            </a:r>
            <a:endParaRPr lang="en-US" sz="800" dirty="0"/>
          </a:p>
        </p:txBody>
      </p:sp>
      <p:sp>
        <p:nvSpPr>
          <p:cNvPr id="49" name="Text 47"/>
          <p:cNvSpPr/>
          <p:nvPr/>
        </p:nvSpPr>
        <p:spPr>
          <a:xfrm>
            <a:off x="4983480" y="4069080"/>
            <a:ext cx="3703320" cy="201168"/>
          </a:xfrm>
          <a:prstGeom prst="rect">
            <a:avLst/>
          </a:prstGeom>
          <a:noFill/>
          <a:ln/>
        </p:spPr>
        <p:txBody>
          <a:bodyPr wrap="square" lIns="0" tIns="0" rIns="0" bIns="0" rtlCol="0" anchor="ctr"/>
          <a:lstStyle/>
          <a:p>
            <a:pPr marL="0" indent="0">
              <a:buNone/>
            </a:pPr>
            <a:r>
              <a:rPr lang="en-US" sz="800" dirty="0">
                <a:solidFill>
                  <a:srgbClr val="94A3B8"/>
                </a:solidFill>
                <a:latin typeface="Courier New" pitchFamily="34" charset="0"/>
                <a:ea typeface="Courier New" pitchFamily="34" charset="-122"/>
                <a:cs typeface="Courier New" pitchFamily="34" charset="-120"/>
              </a:rPr>
              <a:t>}</a:t>
            </a:r>
            <a:endParaRPr lang="en-US" sz="800" dirty="0"/>
          </a:p>
        </p:txBody>
      </p:sp>
      <p:cxnSp>
        <p:nvCxnSpPr>
          <p:cNvPr id="66" name="Straight Connector 65">
            <a:extLst>
              <a:ext uri="{FF2B5EF4-FFF2-40B4-BE49-F238E27FC236}">
                <a16:creationId xmlns:a16="http://schemas.microsoft.com/office/drawing/2014/main" id="{64CFF513-C39A-A849-B4A3-18A2565C0D30}"/>
              </a:ext>
            </a:extLst>
          </p:cNvPr>
          <p:cNvCxnSpPr>
            <a:cxnSpLocks/>
          </p:cNvCxnSpPr>
          <p:nvPr/>
        </p:nvCxnSpPr>
        <p:spPr>
          <a:xfrm>
            <a:off x="3922053" y="2331359"/>
            <a:ext cx="0" cy="240391"/>
          </a:xfrm>
          <a:prstGeom prst="line">
            <a:avLst/>
          </a:prstGeom>
          <a:effectLst>
            <a:outerShdw blurRad="50800" dist="38100" dir="2700000" sx="102000" sy="102000" algn="tl" rotWithShape="0">
              <a:prstClr val="black">
                <a:alpha val="40000"/>
              </a:prstClr>
            </a:outerShdw>
          </a:effectLst>
        </p:spPr>
        <p:style>
          <a:lnRef idx="3">
            <a:schemeClr val="accent3"/>
          </a:lnRef>
          <a:fillRef idx="0">
            <a:schemeClr val="accent3"/>
          </a:fillRef>
          <a:effectRef idx="2">
            <a:schemeClr val="accent3"/>
          </a:effectRef>
          <a:fontRef idx="minor">
            <a:schemeClr val="tx1"/>
          </a:fontRef>
        </p:style>
      </p:cxnSp>
      <p:cxnSp>
        <p:nvCxnSpPr>
          <p:cNvPr id="69" name="Straight Connector 68">
            <a:extLst>
              <a:ext uri="{FF2B5EF4-FFF2-40B4-BE49-F238E27FC236}">
                <a16:creationId xmlns:a16="http://schemas.microsoft.com/office/drawing/2014/main" id="{BDD42379-6FA9-77D0-E8A6-014CE21C8702}"/>
              </a:ext>
            </a:extLst>
          </p:cNvPr>
          <p:cNvCxnSpPr>
            <a:cxnSpLocks/>
          </p:cNvCxnSpPr>
          <p:nvPr/>
        </p:nvCxnSpPr>
        <p:spPr>
          <a:xfrm>
            <a:off x="1179095" y="2571750"/>
            <a:ext cx="2742958" cy="0"/>
          </a:xfrm>
          <a:prstGeom prst="line">
            <a:avLst/>
          </a:prstGeom>
          <a:effectLst>
            <a:outerShdw blurRad="50800" dist="38100" dir="2700000" sx="102000" sy="102000" algn="tl" rotWithShape="0">
              <a:prstClr val="black">
                <a:alpha val="40000"/>
              </a:prstClr>
            </a:outerShdw>
          </a:effectLst>
        </p:spPr>
        <p:style>
          <a:lnRef idx="3">
            <a:schemeClr val="accent3"/>
          </a:lnRef>
          <a:fillRef idx="0">
            <a:schemeClr val="accent3"/>
          </a:fillRef>
          <a:effectRef idx="2">
            <a:schemeClr val="accent3"/>
          </a:effectRef>
          <a:fontRef idx="minor">
            <a:schemeClr val="tx1"/>
          </a:fontRef>
        </p:style>
      </p:cxnSp>
      <p:cxnSp>
        <p:nvCxnSpPr>
          <p:cNvPr id="74" name="Straight Arrow Connector 73">
            <a:extLst>
              <a:ext uri="{FF2B5EF4-FFF2-40B4-BE49-F238E27FC236}">
                <a16:creationId xmlns:a16="http://schemas.microsoft.com/office/drawing/2014/main" id="{03B0B35A-B1F8-0DAE-DF31-5C50763F8CD5}"/>
              </a:ext>
            </a:extLst>
          </p:cNvPr>
          <p:cNvCxnSpPr>
            <a:cxnSpLocks/>
          </p:cNvCxnSpPr>
          <p:nvPr/>
        </p:nvCxnSpPr>
        <p:spPr>
          <a:xfrm>
            <a:off x="1176208" y="2560142"/>
            <a:ext cx="962" cy="401735"/>
          </a:xfrm>
          <a:prstGeom prst="straightConnector1">
            <a:avLst/>
          </a:prstGeom>
          <a:ln>
            <a:tailEnd type="triangle"/>
          </a:ln>
          <a:effectLst>
            <a:outerShdw blurRad="50800" dist="38100" dir="2700000" sx="102000" sy="102000" algn="tl" rotWithShape="0">
              <a:prstClr val="black">
                <a:alpha val="40000"/>
              </a:prstClr>
            </a:outerShdw>
          </a:effectLst>
        </p:spPr>
        <p:style>
          <a:lnRef idx="3">
            <a:schemeClr val="accent3"/>
          </a:lnRef>
          <a:fillRef idx="0">
            <a:schemeClr val="accent3"/>
          </a:fillRef>
          <a:effectRef idx="2">
            <a:schemeClr val="accent3"/>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47472"/>
            <a:ext cx="896112" cy="256032"/>
          </a:xfrm>
          <a:prstGeom prst="rect">
            <a:avLst/>
          </a:prstGeom>
          <a:solidFill>
            <a:srgbClr val="1E2761"/>
          </a:solidFill>
          <a:ln w="12700">
            <a:solidFill>
              <a:srgbClr val="1E2761"/>
            </a:solidFill>
            <a:prstDash val="solid"/>
          </a:ln>
        </p:spPr>
      </p:sp>
      <p:sp>
        <p:nvSpPr>
          <p:cNvPr id="3" name="Text 1"/>
          <p:cNvSpPr/>
          <p:nvPr/>
        </p:nvSpPr>
        <p:spPr>
          <a:xfrm>
            <a:off x="548640" y="356616"/>
            <a:ext cx="2286000" cy="256032"/>
          </a:xfrm>
          <a:prstGeom prst="rect">
            <a:avLst/>
          </a:prstGeom>
          <a:noFill/>
          <a:ln/>
        </p:spPr>
        <p:txBody>
          <a:bodyPr wrap="square" lIns="0" tIns="76200" rIns="0" bIns="0" rtlCol="0" anchor="ctr"/>
          <a:lstStyle/>
          <a:p>
            <a:pPr marL="0" indent="0">
              <a:buNone/>
            </a:pPr>
            <a:r>
              <a:rPr lang="en-US" sz="800" b="1" kern="0" spc="200" dirty="0">
                <a:solidFill>
                  <a:srgbClr val="FFFFFF"/>
                </a:solidFill>
              </a:rPr>
              <a:t>SECURITY</a:t>
            </a:r>
            <a:endParaRPr lang="en-US" sz="800" dirty="0"/>
          </a:p>
        </p:txBody>
      </p:sp>
      <p:sp>
        <p:nvSpPr>
          <p:cNvPr id="4" name="Text 2"/>
          <p:cNvSpPr/>
          <p:nvPr/>
        </p:nvSpPr>
        <p:spPr>
          <a:xfrm>
            <a:off x="548640" y="658368"/>
            <a:ext cx="8046720" cy="475488"/>
          </a:xfrm>
          <a:prstGeom prst="rect">
            <a:avLst/>
          </a:prstGeom>
          <a:noFill/>
          <a:ln/>
        </p:spPr>
        <p:txBody>
          <a:bodyPr wrap="square" lIns="0" tIns="0" rIns="0" bIns="0" rtlCol="0" anchor="ctr"/>
          <a:lstStyle/>
          <a:p>
            <a:pPr marL="0" indent="0">
              <a:buNone/>
            </a:pPr>
            <a:r>
              <a:rPr lang="en-US" sz="2200" b="1" dirty="0">
                <a:solidFill>
                  <a:srgbClr val="1E293B"/>
                </a:solidFill>
              </a:rPr>
              <a:t>The Security Agent is a hard gate in the pipeline.</a:t>
            </a:r>
            <a:endParaRPr lang="en-US" sz="2200" dirty="0"/>
          </a:p>
        </p:txBody>
      </p:sp>
      <p:sp>
        <p:nvSpPr>
          <p:cNvPr id="5" name="Shape 3"/>
          <p:cNvSpPr/>
          <p:nvPr/>
        </p:nvSpPr>
        <p:spPr>
          <a:xfrm>
            <a:off x="502920" y="1417320"/>
            <a:ext cx="1234440" cy="749808"/>
          </a:xfrm>
          <a:prstGeom prst="roundRect">
            <a:avLst>
              <a:gd name="adj" fmla="val 9756"/>
            </a:avLst>
          </a:prstGeom>
          <a:solidFill>
            <a:srgbClr val="EEF2FF"/>
          </a:solidFill>
          <a:ln w="12700">
            <a:solidFill>
              <a:srgbClr val="A5B4FC"/>
            </a:solidFill>
            <a:prstDash val="solid"/>
          </a:ln>
        </p:spPr>
      </p:sp>
      <p:sp>
        <p:nvSpPr>
          <p:cNvPr id="6" name="Text 4"/>
          <p:cNvSpPr/>
          <p:nvPr/>
        </p:nvSpPr>
        <p:spPr>
          <a:xfrm>
            <a:off x="502920" y="1481328"/>
            <a:ext cx="1234440" cy="612648"/>
          </a:xfrm>
          <a:prstGeom prst="rect">
            <a:avLst/>
          </a:prstGeom>
          <a:noFill/>
          <a:ln/>
        </p:spPr>
        <p:txBody>
          <a:bodyPr wrap="square" lIns="0" tIns="0" rIns="0" bIns="0" rtlCol="0" anchor="ctr"/>
          <a:lstStyle/>
          <a:p>
            <a:pPr marL="0" indent="0" algn="ctr">
              <a:buNone/>
            </a:pPr>
            <a:r>
              <a:rPr lang="en-US" sz="950" dirty="0">
                <a:solidFill>
                  <a:srgbClr val="1E293B"/>
                </a:solidFill>
              </a:rPr>
              <a:t>Intake</a:t>
            </a:r>
            <a:endParaRPr lang="en-US" sz="950" dirty="0"/>
          </a:p>
        </p:txBody>
      </p:sp>
      <p:sp>
        <p:nvSpPr>
          <p:cNvPr id="7" name="Shape 5"/>
          <p:cNvSpPr/>
          <p:nvPr/>
        </p:nvSpPr>
        <p:spPr>
          <a:xfrm>
            <a:off x="1737360" y="1792224"/>
            <a:ext cx="228600" cy="0"/>
          </a:xfrm>
          <a:prstGeom prst="line">
            <a:avLst/>
          </a:prstGeom>
          <a:noFill/>
          <a:ln w="19050">
            <a:solidFill>
              <a:srgbClr val="64748B"/>
            </a:solidFill>
            <a:prstDash val="solid"/>
            <a:tailEnd type="triangle"/>
          </a:ln>
        </p:spPr>
      </p:sp>
      <p:sp>
        <p:nvSpPr>
          <p:cNvPr id="8" name="Shape 6"/>
          <p:cNvSpPr/>
          <p:nvPr/>
        </p:nvSpPr>
        <p:spPr>
          <a:xfrm>
            <a:off x="1965960" y="1417320"/>
            <a:ext cx="1234440" cy="749808"/>
          </a:xfrm>
          <a:prstGeom prst="roundRect">
            <a:avLst>
              <a:gd name="adj" fmla="val 9756"/>
            </a:avLst>
          </a:prstGeom>
          <a:solidFill>
            <a:srgbClr val="FEF2F2"/>
          </a:solidFill>
          <a:ln w="25400">
            <a:solidFill>
              <a:srgbClr val="DC2626"/>
            </a:solidFill>
            <a:prstDash val="solid"/>
          </a:ln>
        </p:spPr>
      </p:sp>
      <p:sp>
        <p:nvSpPr>
          <p:cNvPr id="9" name="Text 7"/>
          <p:cNvSpPr/>
          <p:nvPr/>
        </p:nvSpPr>
        <p:spPr>
          <a:xfrm>
            <a:off x="1965960" y="1481328"/>
            <a:ext cx="1234440" cy="612648"/>
          </a:xfrm>
          <a:prstGeom prst="rect">
            <a:avLst/>
          </a:prstGeom>
          <a:noFill/>
          <a:ln/>
        </p:spPr>
        <p:txBody>
          <a:bodyPr wrap="square" lIns="0" tIns="0" rIns="0" bIns="0" rtlCol="0" anchor="ctr"/>
          <a:lstStyle/>
          <a:p>
            <a:pPr marL="0" indent="0" algn="ctr">
              <a:buNone/>
            </a:pPr>
            <a:r>
              <a:rPr lang="en-US" sz="950" b="1" dirty="0">
                <a:solidFill>
                  <a:srgbClr val="DC2626"/>
                </a:solidFill>
              </a:rPr>
              <a:t>Security</a:t>
            </a:r>
            <a:endParaRPr lang="en-US" sz="950" dirty="0"/>
          </a:p>
          <a:p>
            <a:pPr marL="0" indent="0" algn="ctr">
              <a:buNone/>
            </a:pPr>
            <a:r>
              <a:rPr lang="en-US" sz="950" b="1" dirty="0">
                <a:solidFill>
                  <a:srgbClr val="DC2626"/>
                </a:solidFill>
              </a:rPr>
              <a:t>Agent</a:t>
            </a:r>
            <a:endParaRPr lang="en-US" sz="950" dirty="0"/>
          </a:p>
        </p:txBody>
      </p:sp>
      <p:sp>
        <p:nvSpPr>
          <p:cNvPr id="10" name="Shape 8"/>
          <p:cNvSpPr/>
          <p:nvPr/>
        </p:nvSpPr>
        <p:spPr>
          <a:xfrm>
            <a:off x="3200400" y="1792224"/>
            <a:ext cx="228600" cy="0"/>
          </a:xfrm>
          <a:prstGeom prst="line">
            <a:avLst/>
          </a:prstGeom>
          <a:noFill/>
          <a:ln w="19050">
            <a:solidFill>
              <a:srgbClr val="64748B"/>
            </a:solidFill>
            <a:prstDash val="solid"/>
            <a:tailEnd type="triangle"/>
          </a:ln>
        </p:spPr>
      </p:sp>
      <p:sp>
        <p:nvSpPr>
          <p:cNvPr id="11" name="Shape 9"/>
          <p:cNvSpPr/>
          <p:nvPr/>
        </p:nvSpPr>
        <p:spPr>
          <a:xfrm>
            <a:off x="3429000" y="1417320"/>
            <a:ext cx="1234440" cy="749808"/>
          </a:xfrm>
          <a:prstGeom prst="roundRect">
            <a:avLst>
              <a:gd name="adj" fmla="val 9756"/>
            </a:avLst>
          </a:prstGeom>
          <a:solidFill>
            <a:srgbClr val="EEF2FF"/>
          </a:solidFill>
          <a:ln w="12700">
            <a:solidFill>
              <a:srgbClr val="A5B4FC"/>
            </a:solidFill>
            <a:prstDash val="solid"/>
          </a:ln>
        </p:spPr>
      </p:sp>
      <p:sp>
        <p:nvSpPr>
          <p:cNvPr id="12" name="Text 10"/>
          <p:cNvSpPr/>
          <p:nvPr/>
        </p:nvSpPr>
        <p:spPr>
          <a:xfrm>
            <a:off x="3429000" y="1481328"/>
            <a:ext cx="1234440" cy="612648"/>
          </a:xfrm>
          <a:prstGeom prst="rect">
            <a:avLst/>
          </a:prstGeom>
          <a:noFill/>
          <a:ln/>
        </p:spPr>
        <p:txBody>
          <a:bodyPr wrap="square" lIns="0" tIns="0" rIns="0" bIns="0" rtlCol="0" anchor="ctr"/>
          <a:lstStyle/>
          <a:p>
            <a:pPr marL="0" indent="0" algn="ctr">
              <a:buNone/>
            </a:pPr>
            <a:r>
              <a:rPr lang="en-US" sz="950" dirty="0">
                <a:solidFill>
                  <a:srgbClr val="1E293B"/>
                </a:solidFill>
              </a:rPr>
              <a:t>Severity</a:t>
            </a:r>
            <a:endParaRPr lang="en-US" sz="950" dirty="0"/>
          </a:p>
        </p:txBody>
      </p:sp>
      <p:sp>
        <p:nvSpPr>
          <p:cNvPr id="13" name="Shape 11"/>
          <p:cNvSpPr/>
          <p:nvPr/>
        </p:nvSpPr>
        <p:spPr>
          <a:xfrm>
            <a:off x="4663440" y="1792224"/>
            <a:ext cx="228600" cy="0"/>
          </a:xfrm>
          <a:prstGeom prst="line">
            <a:avLst/>
          </a:prstGeom>
          <a:noFill/>
          <a:ln w="19050">
            <a:solidFill>
              <a:srgbClr val="64748B"/>
            </a:solidFill>
            <a:prstDash val="solid"/>
            <a:tailEnd type="triangle"/>
          </a:ln>
        </p:spPr>
      </p:sp>
      <p:sp>
        <p:nvSpPr>
          <p:cNvPr id="14" name="Shape 12"/>
          <p:cNvSpPr/>
          <p:nvPr/>
        </p:nvSpPr>
        <p:spPr>
          <a:xfrm>
            <a:off x="4892040" y="1417320"/>
            <a:ext cx="1234440" cy="749808"/>
          </a:xfrm>
          <a:prstGeom prst="roundRect">
            <a:avLst>
              <a:gd name="adj" fmla="val 9756"/>
            </a:avLst>
          </a:prstGeom>
          <a:solidFill>
            <a:srgbClr val="EEF2FF"/>
          </a:solidFill>
          <a:ln w="12700">
            <a:solidFill>
              <a:srgbClr val="A5B4FC"/>
            </a:solidFill>
            <a:prstDash val="solid"/>
          </a:ln>
        </p:spPr>
      </p:sp>
      <p:sp>
        <p:nvSpPr>
          <p:cNvPr id="15" name="Text 13"/>
          <p:cNvSpPr/>
          <p:nvPr/>
        </p:nvSpPr>
        <p:spPr>
          <a:xfrm>
            <a:off x="4892040" y="1481328"/>
            <a:ext cx="1234440" cy="612648"/>
          </a:xfrm>
          <a:prstGeom prst="rect">
            <a:avLst/>
          </a:prstGeom>
          <a:noFill/>
          <a:ln/>
        </p:spPr>
        <p:txBody>
          <a:bodyPr wrap="square" lIns="0" tIns="0" rIns="0" bIns="0" rtlCol="0" anchor="ctr"/>
          <a:lstStyle/>
          <a:p>
            <a:pPr marL="0" indent="0" algn="ctr">
              <a:buNone/>
            </a:pPr>
            <a:r>
              <a:rPr lang="en-US" sz="950" dirty="0">
                <a:solidFill>
                  <a:srgbClr val="1E293B"/>
                </a:solidFill>
              </a:rPr>
              <a:t>Remainder</a:t>
            </a:r>
            <a:endParaRPr lang="en-US" sz="950" dirty="0"/>
          </a:p>
        </p:txBody>
      </p:sp>
      <p:sp>
        <p:nvSpPr>
          <p:cNvPr id="16" name="Shape 14"/>
          <p:cNvSpPr/>
          <p:nvPr/>
        </p:nvSpPr>
        <p:spPr>
          <a:xfrm>
            <a:off x="1965960" y="2167128"/>
            <a:ext cx="0" cy="640080"/>
          </a:xfrm>
          <a:prstGeom prst="line">
            <a:avLst/>
          </a:prstGeom>
          <a:noFill/>
          <a:ln w="25400">
            <a:solidFill>
              <a:srgbClr val="DC2626"/>
            </a:solidFill>
            <a:prstDash val="solid"/>
            <a:tailEnd type="triangle"/>
          </a:ln>
        </p:spPr>
      </p:sp>
      <p:sp>
        <p:nvSpPr>
          <p:cNvPr id="17" name="Shape 15"/>
          <p:cNvSpPr/>
          <p:nvPr/>
        </p:nvSpPr>
        <p:spPr>
          <a:xfrm>
            <a:off x="1325880" y="2834640"/>
            <a:ext cx="1600200" cy="502920"/>
          </a:xfrm>
          <a:prstGeom prst="roundRect">
            <a:avLst>
              <a:gd name="adj" fmla="val 10909"/>
            </a:avLst>
          </a:prstGeom>
          <a:solidFill>
            <a:srgbClr val="FEE2E2"/>
          </a:solidFill>
          <a:ln w="12700">
            <a:solidFill>
              <a:srgbClr val="DC2626"/>
            </a:solidFill>
            <a:prstDash val="solid"/>
          </a:ln>
        </p:spPr>
      </p:sp>
      <p:sp>
        <p:nvSpPr>
          <p:cNvPr id="18" name="Text 16"/>
          <p:cNvSpPr/>
          <p:nvPr/>
        </p:nvSpPr>
        <p:spPr>
          <a:xfrm>
            <a:off x="1325880" y="2834640"/>
            <a:ext cx="1600200" cy="502920"/>
          </a:xfrm>
          <a:prstGeom prst="rect">
            <a:avLst/>
          </a:prstGeom>
          <a:noFill/>
          <a:ln/>
        </p:spPr>
        <p:txBody>
          <a:bodyPr wrap="square" lIns="50800" tIns="50800" rIns="50800" bIns="50800" rtlCol="0" anchor="ctr"/>
          <a:lstStyle/>
          <a:p>
            <a:pPr marL="0" indent="0" algn="ctr">
              <a:buNone/>
            </a:pPr>
            <a:r>
              <a:rPr lang="en-US" sz="850" dirty="0">
                <a:solidFill>
                  <a:srgbClr val="DC2626"/>
                </a:solidFill>
              </a:rPr>
              <a:t>BLOCKED — no downstream processing</a:t>
            </a:r>
            <a:endParaRPr lang="en-US" sz="850" dirty="0"/>
          </a:p>
        </p:txBody>
      </p:sp>
      <p:sp>
        <p:nvSpPr>
          <p:cNvPr id="19" name="Shape 17"/>
          <p:cNvSpPr/>
          <p:nvPr/>
        </p:nvSpPr>
        <p:spPr>
          <a:xfrm>
            <a:off x="4754880" y="1298448"/>
            <a:ext cx="4023360" cy="658368"/>
          </a:xfrm>
          <a:prstGeom prst="roundRect">
            <a:avLst>
              <a:gd name="adj" fmla="val 9722"/>
            </a:avLst>
          </a:prstGeom>
          <a:solidFill>
            <a:srgbClr val="EEF2FF"/>
          </a:solidFill>
          <a:ln w="12700">
            <a:solidFill>
              <a:srgbClr val="C7D2FE"/>
            </a:solidFill>
            <a:prstDash val="solid"/>
          </a:ln>
        </p:spPr>
      </p:sp>
      <p:sp>
        <p:nvSpPr>
          <p:cNvPr id="20" name="Text 18"/>
          <p:cNvSpPr/>
          <p:nvPr/>
        </p:nvSpPr>
        <p:spPr>
          <a:xfrm>
            <a:off x="4892040" y="1353312"/>
            <a:ext cx="3749040" cy="228600"/>
          </a:xfrm>
          <a:prstGeom prst="rect">
            <a:avLst/>
          </a:prstGeom>
          <a:noFill/>
          <a:ln/>
        </p:spPr>
        <p:txBody>
          <a:bodyPr wrap="square" lIns="0" tIns="0" rIns="0" bIns="0" rtlCol="0" anchor="ctr"/>
          <a:lstStyle/>
          <a:p>
            <a:pPr marL="0" indent="0">
              <a:buNone/>
            </a:pPr>
            <a:r>
              <a:rPr lang="en-US" sz="1100" b="1" dirty="0">
                <a:solidFill>
                  <a:srgbClr val="1E293B"/>
                </a:solidFill>
              </a:rPr>
              <a:t>Threat classification</a:t>
            </a:r>
            <a:endParaRPr lang="en-US" sz="1100" dirty="0"/>
          </a:p>
        </p:txBody>
      </p:sp>
      <p:sp>
        <p:nvSpPr>
          <p:cNvPr id="21" name="Text 19"/>
          <p:cNvSpPr/>
          <p:nvPr/>
        </p:nvSpPr>
        <p:spPr>
          <a:xfrm>
            <a:off x="4892040" y="1609344"/>
            <a:ext cx="3749040" cy="256032"/>
          </a:xfrm>
          <a:prstGeom prst="rect">
            <a:avLst/>
          </a:prstGeom>
          <a:noFill/>
          <a:ln/>
        </p:spPr>
        <p:txBody>
          <a:bodyPr wrap="square" lIns="0" tIns="0" rIns="0" bIns="0" rtlCol="0" anchor="ctr"/>
          <a:lstStyle/>
          <a:p>
            <a:pPr marL="0" indent="0">
              <a:buNone/>
            </a:pPr>
            <a:r>
              <a:rPr lang="en-US" sz="950" dirty="0">
                <a:solidFill>
                  <a:srgbClr val="64748B"/>
                </a:solidFill>
              </a:rPr>
              <a:t>Flags malicious or unusual incident patterns before resource allocation</a:t>
            </a:r>
            <a:endParaRPr lang="en-US" sz="950" dirty="0"/>
          </a:p>
        </p:txBody>
      </p:sp>
      <p:sp>
        <p:nvSpPr>
          <p:cNvPr id="22" name="Shape 20"/>
          <p:cNvSpPr/>
          <p:nvPr/>
        </p:nvSpPr>
        <p:spPr>
          <a:xfrm>
            <a:off x="4754880" y="2121408"/>
            <a:ext cx="4023360" cy="658368"/>
          </a:xfrm>
          <a:prstGeom prst="roundRect">
            <a:avLst>
              <a:gd name="adj" fmla="val 9722"/>
            </a:avLst>
          </a:prstGeom>
          <a:solidFill>
            <a:srgbClr val="EEF2FF"/>
          </a:solidFill>
          <a:ln w="12700">
            <a:solidFill>
              <a:srgbClr val="C7D2FE"/>
            </a:solidFill>
            <a:prstDash val="solid"/>
          </a:ln>
        </p:spPr>
      </p:sp>
      <p:sp>
        <p:nvSpPr>
          <p:cNvPr id="23" name="Text 21"/>
          <p:cNvSpPr/>
          <p:nvPr/>
        </p:nvSpPr>
        <p:spPr>
          <a:xfrm>
            <a:off x="4892040" y="2176272"/>
            <a:ext cx="3749040" cy="228600"/>
          </a:xfrm>
          <a:prstGeom prst="rect">
            <a:avLst/>
          </a:prstGeom>
          <a:noFill/>
          <a:ln/>
        </p:spPr>
        <p:txBody>
          <a:bodyPr wrap="square" lIns="0" tIns="0" rIns="0" bIns="0" rtlCol="0" anchor="ctr"/>
          <a:lstStyle/>
          <a:p>
            <a:pPr marL="0" indent="0">
              <a:buNone/>
            </a:pPr>
            <a:r>
              <a:rPr lang="en-US" sz="1100" b="1" dirty="0">
                <a:solidFill>
                  <a:srgbClr val="1E293B"/>
                </a:solidFill>
              </a:rPr>
              <a:t>Pipeline halt</a:t>
            </a:r>
            <a:endParaRPr lang="en-US" sz="1100" dirty="0"/>
          </a:p>
        </p:txBody>
      </p:sp>
      <p:sp>
        <p:nvSpPr>
          <p:cNvPr id="24" name="Text 22"/>
          <p:cNvSpPr/>
          <p:nvPr/>
        </p:nvSpPr>
        <p:spPr>
          <a:xfrm>
            <a:off x="4892040" y="2432304"/>
            <a:ext cx="3749040" cy="256032"/>
          </a:xfrm>
          <a:prstGeom prst="rect">
            <a:avLst/>
          </a:prstGeom>
          <a:noFill/>
          <a:ln/>
        </p:spPr>
        <p:txBody>
          <a:bodyPr wrap="square" lIns="0" tIns="0" rIns="0" bIns="0" rtlCol="0" anchor="ctr"/>
          <a:lstStyle/>
          <a:p>
            <a:pPr marL="0" indent="0">
              <a:buNone/>
            </a:pPr>
            <a:r>
              <a:rPr lang="en-US" sz="950" dirty="0">
                <a:solidFill>
                  <a:srgbClr val="64748B"/>
                </a:solidFill>
              </a:rPr>
              <a:t>Returns immediately on FAILED — no downstream agents run</a:t>
            </a:r>
            <a:endParaRPr lang="en-US" sz="950" dirty="0"/>
          </a:p>
        </p:txBody>
      </p:sp>
      <p:sp>
        <p:nvSpPr>
          <p:cNvPr id="25" name="Shape 23"/>
          <p:cNvSpPr/>
          <p:nvPr/>
        </p:nvSpPr>
        <p:spPr>
          <a:xfrm>
            <a:off x="4754880" y="2944368"/>
            <a:ext cx="4023360" cy="658368"/>
          </a:xfrm>
          <a:prstGeom prst="roundRect">
            <a:avLst>
              <a:gd name="adj" fmla="val 9722"/>
            </a:avLst>
          </a:prstGeom>
          <a:solidFill>
            <a:srgbClr val="EEF2FF"/>
          </a:solidFill>
          <a:ln w="12700">
            <a:solidFill>
              <a:srgbClr val="C7D2FE"/>
            </a:solidFill>
            <a:prstDash val="solid"/>
          </a:ln>
        </p:spPr>
      </p:sp>
      <p:sp>
        <p:nvSpPr>
          <p:cNvPr id="26" name="Text 24"/>
          <p:cNvSpPr/>
          <p:nvPr/>
        </p:nvSpPr>
        <p:spPr>
          <a:xfrm>
            <a:off x="4892040" y="2999232"/>
            <a:ext cx="3749040" cy="228600"/>
          </a:xfrm>
          <a:prstGeom prst="rect">
            <a:avLst/>
          </a:prstGeom>
          <a:noFill/>
          <a:ln/>
        </p:spPr>
        <p:txBody>
          <a:bodyPr wrap="square" lIns="0" tIns="0" rIns="0" bIns="0" rtlCol="0" anchor="ctr"/>
          <a:lstStyle/>
          <a:p>
            <a:pPr marL="0" indent="0">
              <a:buNone/>
            </a:pPr>
            <a:r>
              <a:rPr lang="en-US" sz="1100" b="1" dirty="0">
                <a:solidFill>
                  <a:srgbClr val="1E293B"/>
                </a:solidFill>
              </a:rPr>
              <a:t>Audit trail</a:t>
            </a:r>
            <a:endParaRPr lang="en-US" sz="1100" dirty="0"/>
          </a:p>
        </p:txBody>
      </p:sp>
      <p:sp>
        <p:nvSpPr>
          <p:cNvPr id="27" name="Text 25"/>
          <p:cNvSpPr/>
          <p:nvPr/>
        </p:nvSpPr>
        <p:spPr>
          <a:xfrm>
            <a:off x="4892040" y="3255264"/>
            <a:ext cx="3749040" cy="256032"/>
          </a:xfrm>
          <a:prstGeom prst="rect">
            <a:avLst/>
          </a:prstGeom>
          <a:noFill/>
          <a:ln/>
        </p:spPr>
        <p:txBody>
          <a:bodyPr wrap="square" lIns="0" tIns="0" rIns="0" bIns="0" rtlCol="0" anchor="ctr"/>
          <a:lstStyle/>
          <a:p>
            <a:pPr marL="0" indent="0">
              <a:buNone/>
            </a:pPr>
            <a:r>
              <a:rPr lang="en-US" sz="950" dirty="0">
                <a:solidFill>
                  <a:srgbClr val="64748B"/>
                </a:solidFill>
              </a:rPr>
              <a:t>Every decision is logged with timestamp and agent ID</a:t>
            </a:r>
            <a:endParaRPr lang="en-US" sz="950" dirty="0"/>
          </a:p>
        </p:txBody>
      </p:sp>
      <p:sp>
        <p:nvSpPr>
          <p:cNvPr id="28" name="Shape 26"/>
          <p:cNvSpPr/>
          <p:nvPr/>
        </p:nvSpPr>
        <p:spPr>
          <a:xfrm>
            <a:off x="4754880" y="3767328"/>
            <a:ext cx="4023360" cy="658368"/>
          </a:xfrm>
          <a:prstGeom prst="roundRect">
            <a:avLst>
              <a:gd name="adj" fmla="val 9722"/>
            </a:avLst>
          </a:prstGeom>
          <a:solidFill>
            <a:srgbClr val="EEF2FF"/>
          </a:solidFill>
          <a:ln w="12700">
            <a:solidFill>
              <a:srgbClr val="C7D2FE"/>
            </a:solidFill>
            <a:prstDash val="solid"/>
          </a:ln>
        </p:spPr>
      </p:sp>
      <p:sp>
        <p:nvSpPr>
          <p:cNvPr id="29" name="Text 27"/>
          <p:cNvSpPr/>
          <p:nvPr/>
        </p:nvSpPr>
        <p:spPr>
          <a:xfrm>
            <a:off x="4892040" y="3822192"/>
            <a:ext cx="3749040" cy="228600"/>
          </a:xfrm>
          <a:prstGeom prst="rect">
            <a:avLst/>
          </a:prstGeom>
          <a:noFill/>
          <a:ln/>
        </p:spPr>
        <p:txBody>
          <a:bodyPr wrap="square" lIns="0" tIns="0" rIns="0" bIns="0" rtlCol="0" anchor="ctr"/>
          <a:lstStyle/>
          <a:p>
            <a:pPr marL="0" indent="0">
              <a:buNone/>
            </a:pPr>
            <a:r>
              <a:rPr lang="en-US" sz="1100" b="1" dirty="0">
                <a:solidFill>
                  <a:srgbClr val="1E293B"/>
                </a:solidFill>
              </a:rPr>
              <a:t>Human override</a:t>
            </a:r>
            <a:endParaRPr lang="en-US" sz="1100" dirty="0"/>
          </a:p>
        </p:txBody>
      </p:sp>
      <p:sp>
        <p:nvSpPr>
          <p:cNvPr id="30" name="Text 28"/>
          <p:cNvSpPr/>
          <p:nvPr/>
        </p:nvSpPr>
        <p:spPr>
          <a:xfrm>
            <a:off x="4892040" y="4078224"/>
            <a:ext cx="3749040" cy="256032"/>
          </a:xfrm>
          <a:prstGeom prst="rect">
            <a:avLst/>
          </a:prstGeom>
          <a:noFill/>
          <a:ln/>
        </p:spPr>
        <p:txBody>
          <a:bodyPr wrap="square" lIns="0" tIns="0" rIns="0" bIns="0" rtlCol="0" anchor="ctr"/>
          <a:lstStyle/>
          <a:p>
            <a:pPr marL="0" indent="0">
              <a:buNone/>
            </a:pPr>
            <a:r>
              <a:rPr lang="en-US" sz="950" dirty="0">
                <a:solidFill>
                  <a:srgbClr val="64748B"/>
                </a:solidFill>
              </a:rPr>
              <a:t>Human Review Agent can override a FAILED status with justification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47472"/>
            <a:ext cx="1362456" cy="256032"/>
          </a:xfrm>
          <a:prstGeom prst="rect">
            <a:avLst/>
          </a:prstGeom>
          <a:solidFill>
            <a:srgbClr val="1E2761"/>
          </a:solidFill>
          <a:ln w="12700">
            <a:solidFill>
              <a:srgbClr val="1E2761"/>
            </a:solidFill>
            <a:prstDash val="solid"/>
          </a:ln>
        </p:spPr>
      </p:sp>
      <p:sp>
        <p:nvSpPr>
          <p:cNvPr id="3" name="Text 1"/>
          <p:cNvSpPr/>
          <p:nvPr/>
        </p:nvSpPr>
        <p:spPr>
          <a:xfrm>
            <a:off x="548640" y="356616"/>
            <a:ext cx="2286000" cy="256032"/>
          </a:xfrm>
          <a:prstGeom prst="rect">
            <a:avLst/>
          </a:prstGeom>
          <a:noFill/>
          <a:ln/>
        </p:spPr>
        <p:txBody>
          <a:bodyPr wrap="square" lIns="0" tIns="76200" rIns="0" bIns="0" rtlCol="0" anchor="ctr"/>
          <a:lstStyle/>
          <a:p>
            <a:pPr marL="0" indent="0">
              <a:buNone/>
            </a:pPr>
            <a:r>
              <a:rPr lang="en-US" sz="800" b="1" kern="0" spc="200" dirty="0">
                <a:solidFill>
                  <a:srgbClr val="FFFFFF"/>
                </a:solidFill>
              </a:rPr>
              <a:t>LIVE DASHBOARD</a:t>
            </a:r>
            <a:endParaRPr lang="en-US" sz="800" dirty="0"/>
          </a:p>
        </p:txBody>
      </p:sp>
      <p:sp>
        <p:nvSpPr>
          <p:cNvPr id="4" name="Text 2"/>
          <p:cNvSpPr/>
          <p:nvPr/>
        </p:nvSpPr>
        <p:spPr>
          <a:xfrm>
            <a:off x="548640" y="658368"/>
            <a:ext cx="8046720" cy="475488"/>
          </a:xfrm>
          <a:prstGeom prst="rect">
            <a:avLst/>
          </a:prstGeom>
          <a:noFill/>
          <a:ln/>
        </p:spPr>
        <p:txBody>
          <a:bodyPr wrap="square" lIns="0" tIns="0" rIns="0" bIns="0" rtlCol="0" anchor="ctr"/>
          <a:lstStyle/>
          <a:p>
            <a:pPr marL="0" indent="0">
              <a:buNone/>
            </a:pPr>
            <a:r>
              <a:rPr lang="en-US" sz="2200" b="1" dirty="0">
                <a:solidFill>
                  <a:srgbClr val="1E293B"/>
                </a:solidFill>
              </a:rPr>
              <a:t>Every component is driven by a single backend response.</a:t>
            </a:r>
            <a:endParaRPr lang="en-US" sz="2200" dirty="0"/>
          </a:p>
        </p:txBody>
      </p:sp>
      <p:sp>
        <p:nvSpPr>
          <p:cNvPr id="10" name="Text 8"/>
          <p:cNvSpPr/>
          <p:nvPr/>
        </p:nvSpPr>
        <p:spPr>
          <a:xfrm>
            <a:off x="548640" y="1463040"/>
            <a:ext cx="5303520" cy="3319272"/>
          </a:xfrm>
          <a:prstGeom prst="rect">
            <a:avLst/>
          </a:prstGeom>
          <a:noFill/>
          <a:ln/>
        </p:spPr>
        <p:txBody>
          <a:bodyPr wrap="square" lIns="0" tIns="0" rIns="0" bIns="0" rtlCol="0" anchor="ctr"/>
          <a:lstStyle/>
          <a:p>
            <a:pPr marL="0" indent="0" algn="ctr">
              <a:buNone/>
            </a:pPr>
            <a:r>
              <a:rPr lang="en-US" sz="1000" i="1" dirty="0">
                <a:solidFill>
                  <a:srgbClr val="475569"/>
                </a:solidFill>
              </a:rPr>
              <a:t>[ Insert: Full dashboard screenshot — post-analysis state ]</a:t>
            </a:r>
            <a:endParaRPr lang="en-US" sz="1000" dirty="0"/>
          </a:p>
        </p:txBody>
      </p:sp>
      <p:sp>
        <p:nvSpPr>
          <p:cNvPr id="11" name="Text 9"/>
          <p:cNvSpPr/>
          <p:nvPr/>
        </p:nvSpPr>
        <p:spPr>
          <a:xfrm>
            <a:off x="6080760" y="1261872"/>
            <a:ext cx="2788920" cy="219456"/>
          </a:xfrm>
          <a:prstGeom prst="rect">
            <a:avLst/>
          </a:prstGeom>
          <a:noFill/>
          <a:ln/>
        </p:spPr>
        <p:txBody>
          <a:bodyPr wrap="square" lIns="0" tIns="0" rIns="0" bIns="0" rtlCol="0" anchor="ctr"/>
          <a:lstStyle/>
          <a:p>
            <a:pPr marL="0" indent="0">
              <a:buNone/>
            </a:pPr>
            <a:r>
              <a:rPr lang="en-US" sz="1000" b="1" dirty="0">
                <a:solidFill>
                  <a:srgbClr val="1E293B"/>
                </a:solidFill>
              </a:rPr>
              <a:t>Overview Cards</a:t>
            </a:r>
            <a:endParaRPr lang="en-US" sz="1000" dirty="0"/>
          </a:p>
        </p:txBody>
      </p:sp>
      <p:sp>
        <p:nvSpPr>
          <p:cNvPr id="12" name="Text 10"/>
          <p:cNvSpPr/>
          <p:nvPr/>
        </p:nvSpPr>
        <p:spPr>
          <a:xfrm>
            <a:off x="6080760" y="1499616"/>
            <a:ext cx="2788920" cy="237744"/>
          </a:xfrm>
          <a:prstGeom prst="rect">
            <a:avLst/>
          </a:prstGeom>
          <a:noFill/>
          <a:ln/>
        </p:spPr>
        <p:txBody>
          <a:bodyPr wrap="square" lIns="0" tIns="0" rIns="0" bIns="0" rtlCol="0" anchor="ctr"/>
          <a:lstStyle/>
          <a:p>
            <a:pPr marL="0" indent="0">
              <a:buNone/>
            </a:pPr>
            <a:r>
              <a:rPr lang="en-US" sz="900" dirty="0">
                <a:solidFill>
                  <a:srgbClr val="64748B"/>
                </a:solidFill>
              </a:rPr>
              <a:t>Severity, Security, Resources, Alerts — all from backend</a:t>
            </a:r>
            <a:endParaRPr lang="en-US" sz="900" dirty="0"/>
          </a:p>
        </p:txBody>
      </p:sp>
      <p:sp>
        <p:nvSpPr>
          <p:cNvPr id="13" name="Text 11"/>
          <p:cNvSpPr/>
          <p:nvPr/>
        </p:nvSpPr>
        <p:spPr>
          <a:xfrm>
            <a:off x="6080760" y="1837944"/>
            <a:ext cx="2788920" cy="219456"/>
          </a:xfrm>
          <a:prstGeom prst="rect">
            <a:avLst/>
          </a:prstGeom>
          <a:noFill/>
          <a:ln/>
        </p:spPr>
        <p:txBody>
          <a:bodyPr wrap="square" lIns="0" tIns="0" rIns="0" bIns="0" rtlCol="0" anchor="ctr"/>
          <a:lstStyle/>
          <a:p>
            <a:pPr marL="0" indent="0">
              <a:buNone/>
            </a:pPr>
            <a:r>
              <a:rPr lang="en-US" sz="1000" b="1" dirty="0">
                <a:solidFill>
                  <a:srgbClr val="1E293B"/>
                </a:solidFill>
              </a:rPr>
              <a:t>Agent Timeline</a:t>
            </a:r>
            <a:endParaRPr lang="en-US" sz="1000" dirty="0"/>
          </a:p>
        </p:txBody>
      </p:sp>
      <p:sp>
        <p:nvSpPr>
          <p:cNvPr id="14" name="Text 12"/>
          <p:cNvSpPr/>
          <p:nvPr/>
        </p:nvSpPr>
        <p:spPr>
          <a:xfrm>
            <a:off x="6080760" y="2075688"/>
            <a:ext cx="2788920" cy="237744"/>
          </a:xfrm>
          <a:prstGeom prst="rect">
            <a:avLst/>
          </a:prstGeom>
          <a:noFill/>
          <a:ln/>
        </p:spPr>
        <p:txBody>
          <a:bodyPr wrap="square" lIns="0" tIns="0" rIns="0" bIns="0" rtlCol="0" anchor="ctr"/>
          <a:lstStyle/>
          <a:p>
            <a:pPr marL="0" indent="0">
              <a:buNone/>
            </a:pPr>
            <a:r>
              <a:rPr lang="en-US" sz="900" dirty="0">
                <a:solidFill>
                  <a:srgbClr val="64748B"/>
                </a:solidFill>
              </a:rPr>
              <a:t>Animates in parallel with the real POST call</a:t>
            </a:r>
            <a:endParaRPr lang="en-US" sz="900" dirty="0"/>
          </a:p>
        </p:txBody>
      </p:sp>
      <p:sp>
        <p:nvSpPr>
          <p:cNvPr id="15" name="Text 13"/>
          <p:cNvSpPr/>
          <p:nvPr/>
        </p:nvSpPr>
        <p:spPr>
          <a:xfrm>
            <a:off x="6080760" y="2414016"/>
            <a:ext cx="2788920" cy="219456"/>
          </a:xfrm>
          <a:prstGeom prst="rect">
            <a:avLst/>
          </a:prstGeom>
          <a:noFill/>
          <a:ln/>
        </p:spPr>
        <p:txBody>
          <a:bodyPr wrap="square" lIns="0" tIns="0" rIns="0" bIns="0" rtlCol="0" anchor="ctr"/>
          <a:lstStyle/>
          <a:p>
            <a:pPr marL="0" indent="0">
              <a:buNone/>
            </a:pPr>
            <a:r>
              <a:rPr lang="en-US" sz="1000" b="1" dirty="0">
                <a:solidFill>
                  <a:srgbClr val="1E293B"/>
                </a:solidFill>
              </a:rPr>
              <a:t>Incident Analysis</a:t>
            </a:r>
            <a:endParaRPr lang="en-US" sz="1000" dirty="0"/>
          </a:p>
        </p:txBody>
      </p:sp>
      <p:sp>
        <p:nvSpPr>
          <p:cNvPr id="16" name="Text 14"/>
          <p:cNvSpPr/>
          <p:nvPr/>
        </p:nvSpPr>
        <p:spPr>
          <a:xfrm>
            <a:off x="6080760" y="2651760"/>
            <a:ext cx="2788920" cy="237744"/>
          </a:xfrm>
          <a:prstGeom prst="rect">
            <a:avLst/>
          </a:prstGeom>
          <a:noFill/>
          <a:ln/>
        </p:spPr>
        <p:txBody>
          <a:bodyPr wrap="square" lIns="0" tIns="0" rIns="0" bIns="0" rtlCol="0" anchor="ctr"/>
          <a:lstStyle/>
          <a:p>
            <a:pPr marL="0" indent="0">
              <a:buNone/>
            </a:pPr>
            <a:r>
              <a:rPr lang="en-US" sz="900" dirty="0">
                <a:solidFill>
                  <a:srgbClr val="64748B"/>
                </a:solidFill>
              </a:rPr>
              <a:t>Displays location, type, security_notes, review_status</a:t>
            </a:r>
            <a:endParaRPr lang="en-US" sz="900" dirty="0"/>
          </a:p>
        </p:txBody>
      </p:sp>
      <p:sp>
        <p:nvSpPr>
          <p:cNvPr id="17" name="Text 15"/>
          <p:cNvSpPr/>
          <p:nvPr/>
        </p:nvSpPr>
        <p:spPr>
          <a:xfrm>
            <a:off x="6080760" y="2990088"/>
            <a:ext cx="2788920" cy="219456"/>
          </a:xfrm>
          <a:prstGeom prst="rect">
            <a:avLst/>
          </a:prstGeom>
          <a:noFill/>
          <a:ln/>
        </p:spPr>
        <p:txBody>
          <a:bodyPr wrap="square" lIns="0" tIns="0" rIns="0" bIns="0" rtlCol="0" anchor="ctr"/>
          <a:lstStyle/>
          <a:p>
            <a:pPr marL="0" indent="0">
              <a:buNone/>
            </a:pPr>
            <a:r>
              <a:rPr lang="en-US" sz="1000" b="1" dirty="0">
                <a:solidFill>
                  <a:srgbClr val="1E293B"/>
                </a:solidFill>
              </a:rPr>
              <a:t>Resource Deployment</a:t>
            </a:r>
            <a:endParaRPr lang="en-US" sz="1000" dirty="0"/>
          </a:p>
        </p:txBody>
      </p:sp>
      <p:sp>
        <p:nvSpPr>
          <p:cNvPr id="18" name="Text 16"/>
          <p:cNvSpPr/>
          <p:nvPr/>
        </p:nvSpPr>
        <p:spPr>
          <a:xfrm>
            <a:off x="6080760" y="3227832"/>
            <a:ext cx="2788920" cy="237744"/>
          </a:xfrm>
          <a:prstGeom prst="rect">
            <a:avLst/>
          </a:prstGeom>
          <a:noFill/>
          <a:ln/>
        </p:spPr>
        <p:txBody>
          <a:bodyPr wrap="square" lIns="0" tIns="0" rIns="0" bIns="0" rtlCol="0" anchor="ctr"/>
          <a:lstStyle/>
          <a:p>
            <a:pPr marL="0" indent="0">
              <a:buNone/>
            </a:pPr>
            <a:r>
              <a:rPr lang="en-US" sz="900" dirty="0">
                <a:solidFill>
                  <a:srgbClr val="64748B"/>
                </a:solidFill>
              </a:rPr>
              <a:t>Renders recommended_resources[] as live cards</a:t>
            </a:r>
            <a:endParaRPr lang="en-US" sz="900" dirty="0"/>
          </a:p>
        </p:txBody>
      </p:sp>
      <p:sp>
        <p:nvSpPr>
          <p:cNvPr id="19" name="Text 17"/>
          <p:cNvSpPr/>
          <p:nvPr/>
        </p:nvSpPr>
        <p:spPr>
          <a:xfrm>
            <a:off x="6080760" y="3566160"/>
            <a:ext cx="2788920" cy="219456"/>
          </a:xfrm>
          <a:prstGeom prst="rect">
            <a:avLst/>
          </a:prstGeom>
          <a:noFill/>
          <a:ln/>
        </p:spPr>
        <p:txBody>
          <a:bodyPr wrap="square" lIns="0" tIns="0" rIns="0" bIns="0" rtlCol="0" anchor="ctr"/>
          <a:lstStyle/>
          <a:p>
            <a:pPr marL="0" indent="0">
              <a:buNone/>
            </a:pPr>
            <a:r>
              <a:rPr lang="en-US" sz="1000" b="1" dirty="0">
                <a:solidFill>
                  <a:srgbClr val="1E293B"/>
                </a:solidFill>
              </a:rPr>
              <a:t>Notification Center</a:t>
            </a:r>
            <a:endParaRPr lang="en-US" sz="1000" dirty="0"/>
          </a:p>
        </p:txBody>
      </p:sp>
      <p:sp>
        <p:nvSpPr>
          <p:cNvPr id="20" name="Text 18"/>
          <p:cNvSpPr/>
          <p:nvPr/>
        </p:nvSpPr>
        <p:spPr>
          <a:xfrm>
            <a:off x="6080760" y="3803904"/>
            <a:ext cx="2788920" cy="237744"/>
          </a:xfrm>
          <a:prstGeom prst="rect">
            <a:avLst/>
          </a:prstGeom>
          <a:noFill/>
          <a:ln/>
        </p:spPr>
        <p:txBody>
          <a:bodyPr wrap="square" lIns="0" tIns="0" rIns="0" bIns="0" rtlCol="0" anchor="ctr"/>
          <a:lstStyle/>
          <a:p>
            <a:pPr marL="0" indent="0">
              <a:buNone/>
            </a:pPr>
            <a:r>
              <a:rPr lang="en-US" sz="900" dirty="0">
                <a:solidFill>
                  <a:srgbClr val="64748B"/>
                </a:solidFill>
              </a:rPr>
              <a:t>Notifications[] from backend — zero hardcoded text</a:t>
            </a:r>
            <a:endParaRPr lang="en-US" sz="900" dirty="0"/>
          </a:p>
        </p:txBody>
      </p:sp>
      <p:sp>
        <p:nvSpPr>
          <p:cNvPr id="21" name="Text 19"/>
          <p:cNvSpPr/>
          <p:nvPr/>
        </p:nvSpPr>
        <p:spPr>
          <a:xfrm>
            <a:off x="6080760" y="4142232"/>
            <a:ext cx="2788920" cy="219456"/>
          </a:xfrm>
          <a:prstGeom prst="rect">
            <a:avLst/>
          </a:prstGeom>
          <a:noFill/>
          <a:ln/>
        </p:spPr>
        <p:txBody>
          <a:bodyPr wrap="square" lIns="0" tIns="0" rIns="0" bIns="0" rtlCol="0" anchor="ctr"/>
          <a:lstStyle/>
          <a:p>
            <a:pPr marL="0" indent="0">
              <a:buNone/>
            </a:pPr>
            <a:r>
              <a:rPr lang="en-US" sz="1000" b="1" dirty="0">
                <a:solidFill>
                  <a:srgbClr val="1E293B"/>
                </a:solidFill>
              </a:rPr>
              <a:t>India Operations Map</a:t>
            </a:r>
            <a:endParaRPr lang="en-US" sz="1000" dirty="0"/>
          </a:p>
        </p:txBody>
      </p:sp>
      <p:sp>
        <p:nvSpPr>
          <p:cNvPr id="22" name="Text 20"/>
          <p:cNvSpPr/>
          <p:nvPr/>
        </p:nvSpPr>
        <p:spPr>
          <a:xfrm>
            <a:off x="6080760" y="4379976"/>
            <a:ext cx="2788920" cy="237744"/>
          </a:xfrm>
          <a:prstGeom prst="rect">
            <a:avLst/>
          </a:prstGeom>
          <a:noFill/>
          <a:ln/>
        </p:spPr>
        <p:txBody>
          <a:bodyPr wrap="square" lIns="0" tIns="0" rIns="0" bIns="0" rtlCol="0" anchor="ctr"/>
          <a:lstStyle/>
          <a:p>
            <a:pPr marL="0" indent="0">
              <a:buNone/>
            </a:pPr>
            <a:r>
              <a:rPr lang="en-US" sz="900" dirty="0">
                <a:solidFill>
                  <a:srgbClr val="64748B"/>
                </a:solidFill>
              </a:rPr>
              <a:t>Backend location mapped to SVG coordinate marker</a:t>
            </a:r>
            <a:endParaRPr lang="en-US" sz="900" dirty="0"/>
          </a:p>
        </p:txBody>
      </p:sp>
      <p:pic>
        <p:nvPicPr>
          <p:cNvPr id="28" name="Picture 27">
            <a:extLst>
              <a:ext uri="{FF2B5EF4-FFF2-40B4-BE49-F238E27FC236}">
                <a16:creationId xmlns:a16="http://schemas.microsoft.com/office/drawing/2014/main" id="{2525F656-DDA1-2ABA-14C6-475E79A83C24}"/>
              </a:ext>
            </a:extLst>
          </p:cNvPr>
          <p:cNvPicPr>
            <a:picLocks noChangeAspect="1"/>
          </p:cNvPicPr>
          <p:nvPr/>
        </p:nvPicPr>
        <p:blipFill>
          <a:blip r:embed="rId3"/>
          <a:stretch>
            <a:fillRect/>
          </a:stretch>
        </p:blipFill>
        <p:spPr>
          <a:xfrm>
            <a:off x="274320" y="1371600"/>
            <a:ext cx="5355256" cy="2956839"/>
          </a:xfrm>
          <a:prstGeom prst="rect">
            <a:avLst/>
          </a:prstGeom>
          <a:effectLst>
            <a:outerShdw blurRad="50800" dist="38100" dir="2700000" sx="101000" sy="101000" algn="tl" rotWithShape="0">
              <a:prstClr val="black">
                <a:alpha val="41000"/>
              </a:prst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47472"/>
            <a:ext cx="1051560" cy="256032"/>
          </a:xfrm>
          <a:prstGeom prst="rect">
            <a:avLst/>
          </a:prstGeom>
          <a:solidFill>
            <a:srgbClr val="1E2761"/>
          </a:solidFill>
          <a:ln w="12700">
            <a:solidFill>
              <a:srgbClr val="1E2761"/>
            </a:solidFill>
            <a:prstDash val="solid"/>
          </a:ln>
        </p:spPr>
      </p:sp>
      <p:sp>
        <p:nvSpPr>
          <p:cNvPr id="3" name="Text 1"/>
          <p:cNvSpPr/>
          <p:nvPr/>
        </p:nvSpPr>
        <p:spPr>
          <a:xfrm>
            <a:off x="548640" y="356616"/>
            <a:ext cx="2286000" cy="256032"/>
          </a:xfrm>
          <a:prstGeom prst="rect">
            <a:avLst/>
          </a:prstGeom>
          <a:noFill/>
          <a:ln/>
        </p:spPr>
        <p:txBody>
          <a:bodyPr wrap="square" lIns="0" tIns="76200" rIns="0" bIns="0" rtlCol="0" anchor="ctr"/>
          <a:lstStyle/>
          <a:p>
            <a:pPr marL="0" indent="0">
              <a:buNone/>
            </a:pPr>
            <a:r>
              <a:rPr lang="en-US" sz="800" b="1" kern="0" spc="200" dirty="0">
                <a:solidFill>
                  <a:srgbClr val="FFFFFF"/>
                </a:solidFill>
              </a:rPr>
              <a:t>TECH STACK</a:t>
            </a:r>
            <a:endParaRPr lang="en-US" sz="800" dirty="0"/>
          </a:p>
        </p:txBody>
      </p:sp>
      <p:sp>
        <p:nvSpPr>
          <p:cNvPr id="4" name="Text 2"/>
          <p:cNvSpPr/>
          <p:nvPr/>
        </p:nvSpPr>
        <p:spPr>
          <a:xfrm>
            <a:off x="548640" y="658368"/>
            <a:ext cx="8046720" cy="438912"/>
          </a:xfrm>
          <a:prstGeom prst="rect">
            <a:avLst/>
          </a:prstGeom>
          <a:noFill/>
          <a:ln/>
        </p:spPr>
        <p:txBody>
          <a:bodyPr wrap="square" lIns="0" tIns="0" rIns="0" bIns="0" rtlCol="0" anchor="ctr"/>
          <a:lstStyle/>
          <a:p>
            <a:pPr marL="0" indent="0">
              <a:buNone/>
            </a:pPr>
            <a:r>
              <a:rPr lang="en-US" sz="2200" b="1" dirty="0">
                <a:solidFill>
                  <a:srgbClr val="1E293B"/>
                </a:solidFill>
              </a:rPr>
              <a:t>Production-grade. No shortcuts.</a:t>
            </a:r>
            <a:endParaRPr lang="en-US" sz="2200" dirty="0"/>
          </a:p>
        </p:txBody>
      </p:sp>
      <p:sp>
        <p:nvSpPr>
          <p:cNvPr id="5" name="Shape 3"/>
          <p:cNvSpPr/>
          <p:nvPr/>
        </p:nvSpPr>
        <p:spPr>
          <a:xfrm>
            <a:off x="502920" y="1234440"/>
            <a:ext cx="3977640" cy="3566160"/>
          </a:xfrm>
          <a:prstGeom prst="roundRect">
            <a:avLst>
              <a:gd name="adj" fmla="val 2564"/>
            </a:avLst>
          </a:prstGeom>
          <a:solidFill>
            <a:srgbClr val="EEF2FF"/>
          </a:solidFill>
          <a:ln w="19050">
            <a:solidFill>
              <a:srgbClr val="A5B4FC"/>
            </a:solidFill>
            <a:prstDash val="solid"/>
          </a:ln>
          <a:effectLst>
            <a:outerShdw blurRad="101600" dist="38100" dir="2700000" algn="bl" rotWithShape="0">
              <a:srgbClr val="000000">
                <a:alpha val="10000"/>
              </a:srgbClr>
            </a:outerShdw>
          </a:effectLst>
        </p:spPr>
      </p:sp>
      <p:sp>
        <p:nvSpPr>
          <p:cNvPr id="6" name="Text 4"/>
          <p:cNvSpPr/>
          <p:nvPr/>
        </p:nvSpPr>
        <p:spPr>
          <a:xfrm>
            <a:off x="502920" y="1325880"/>
            <a:ext cx="3977640" cy="292608"/>
          </a:xfrm>
          <a:prstGeom prst="rect">
            <a:avLst/>
          </a:prstGeom>
          <a:noFill/>
          <a:ln/>
        </p:spPr>
        <p:txBody>
          <a:bodyPr wrap="square" lIns="0" tIns="0" rIns="0" bIns="0" rtlCol="0" anchor="ctr"/>
          <a:lstStyle/>
          <a:p>
            <a:pPr marL="0" indent="0" algn="ctr">
              <a:buNone/>
            </a:pPr>
            <a:r>
              <a:rPr lang="en-US" sz="1300" b="1" dirty="0">
                <a:solidFill>
                  <a:srgbClr val="1E293B"/>
                </a:solidFill>
              </a:rPr>
              <a:t>Frontend</a:t>
            </a:r>
            <a:endParaRPr lang="en-US" sz="1300" dirty="0"/>
          </a:p>
        </p:txBody>
      </p:sp>
      <p:sp>
        <p:nvSpPr>
          <p:cNvPr id="7" name="Text 5"/>
          <p:cNvSpPr/>
          <p:nvPr/>
        </p:nvSpPr>
        <p:spPr>
          <a:xfrm>
            <a:off x="704088" y="1737360"/>
            <a:ext cx="3566160" cy="219456"/>
          </a:xfrm>
          <a:prstGeom prst="rect">
            <a:avLst/>
          </a:prstGeom>
          <a:noFill/>
          <a:ln/>
        </p:spPr>
        <p:txBody>
          <a:bodyPr wrap="square" lIns="0" tIns="0" rIns="0" bIns="0" rtlCol="0" anchor="ctr"/>
          <a:lstStyle/>
          <a:p>
            <a:pPr marL="0" indent="0">
              <a:buNone/>
            </a:pPr>
            <a:r>
              <a:rPr lang="en-US" sz="1000" b="1" dirty="0">
                <a:solidFill>
                  <a:srgbClr val="1E2761"/>
                </a:solidFill>
              </a:rPr>
              <a:t>React 18 + Vite</a:t>
            </a:r>
            <a:endParaRPr lang="en-US" sz="1000" dirty="0"/>
          </a:p>
        </p:txBody>
      </p:sp>
      <p:sp>
        <p:nvSpPr>
          <p:cNvPr id="8" name="Text 6"/>
          <p:cNvSpPr/>
          <p:nvPr/>
        </p:nvSpPr>
        <p:spPr>
          <a:xfrm>
            <a:off x="704088" y="1975104"/>
            <a:ext cx="3566160" cy="201168"/>
          </a:xfrm>
          <a:prstGeom prst="rect">
            <a:avLst/>
          </a:prstGeom>
          <a:noFill/>
          <a:ln/>
        </p:spPr>
        <p:txBody>
          <a:bodyPr wrap="square" lIns="0" tIns="0" rIns="0" bIns="0" rtlCol="0" anchor="ctr"/>
          <a:lstStyle/>
          <a:p>
            <a:pPr marL="0" indent="0">
              <a:buNone/>
            </a:pPr>
            <a:r>
              <a:rPr lang="en-US" sz="850" dirty="0">
                <a:solidFill>
                  <a:srgbClr val="64748B"/>
                </a:solidFill>
              </a:rPr>
              <a:t>Component architecture, HMR dev workflow</a:t>
            </a:r>
            <a:endParaRPr lang="en-US" sz="850" dirty="0"/>
          </a:p>
        </p:txBody>
      </p:sp>
      <p:sp>
        <p:nvSpPr>
          <p:cNvPr id="9" name="Text 7"/>
          <p:cNvSpPr/>
          <p:nvPr/>
        </p:nvSpPr>
        <p:spPr>
          <a:xfrm>
            <a:off x="704088" y="2231136"/>
            <a:ext cx="3566160" cy="219456"/>
          </a:xfrm>
          <a:prstGeom prst="rect">
            <a:avLst/>
          </a:prstGeom>
          <a:noFill/>
          <a:ln/>
        </p:spPr>
        <p:txBody>
          <a:bodyPr wrap="square" lIns="0" tIns="0" rIns="0" bIns="0" rtlCol="0" anchor="ctr"/>
          <a:lstStyle/>
          <a:p>
            <a:pPr marL="0" indent="0">
              <a:buNone/>
            </a:pPr>
            <a:r>
              <a:rPr lang="en-US" sz="1000" b="1" dirty="0">
                <a:solidFill>
                  <a:srgbClr val="1E2761"/>
                </a:solidFill>
              </a:rPr>
              <a:t>TypeScript</a:t>
            </a:r>
            <a:endParaRPr lang="en-US" sz="1000" dirty="0"/>
          </a:p>
        </p:txBody>
      </p:sp>
      <p:sp>
        <p:nvSpPr>
          <p:cNvPr id="10" name="Text 8"/>
          <p:cNvSpPr/>
          <p:nvPr/>
        </p:nvSpPr>
        <p:spPr>
          <a:xfrm>
            <a:off x="704088" y="2468880"/>
            <a:ext cx="3566160" cy="201168"/>
          </a:xfrm>
          <a:prstGeom prst="rect">
            <a:avLst/>
          </a:prstGeom>
          <a:noFill/>
          <a:ln/>
        </p:spPr>
        <p:txBody>
          <a:bodyPr wrap="square" lIns="0" tIns="0" rIns="0" bIns="0" rtlCol="0" anchor="ctr"/>
          <a:lstStyle/>
          <a:p>
            <a:pPr marL="0" indent="0">
              <a:buNone/>
            </a:pPr>
            <a:r>
              <a:rPr lang="en-US" sz="850" dirty="0">
                <a:solidFill>
                  <a:srgbClr val="64748B"/>
                </a:solidFill>
              </a:rPr>
              <a:t>Strict typing across store, types, components</a:t>
            </a:r>
            <a:endParaRPr lang="en-US" sz="850" dirty="0"/>
          </a:p>
        </p:txBody>
      </p:sp>
      <p:sp>
        <p:nvSpPr>
          <p:cNvPr id="11" name="Text 9"/>
          <p:cNvSpPr/>
          <p:nvPr/>
        </p:nvSpPr>
        <p:spPr>
          <a:xfrm>
            <a:off x="704088" y="2724912"/>
            <a:ext cx="3566160" cy="219456"/>
          </a:xfrm>
          <a:prstGeom prst="rect">
            <a:avLst/>
          </a:prstGeom>
          <a:noFill/>
          <a:ln/>
        </p:spPr>
        <p:txBody>
          <a:bodyPr wrap="square" lIns="0" tIns="0" rIns="0" bIns="0" rtlCol="0" anchor="ctr"/>
          <a:lstStyle/>
          <a:p>
            <a:pPr marL="0" indent="0">
              <a:buNone/>
            </a:pPr>
            <a:r>
              <a:rPr lang="en-US" sz="1000" b="1" dirty="0">
                <a:solidFill>
                  <a:srgbClr val="1E2761"/>
                </a:solidFill>
              </a:rPr>
              <a:t>Tailwind CSS</a:t>
            </a:r>
            <a:endParaRPr lang="en-US" sz="1000" dirty="0"/>
          </a:p>
        </p:txBody>
      </p:sp>
      <p:sp>
        <p:nvSpPr>
          <p:cNvPr id="12" name="Text 10"/>
          <p:cNvSpPr/>
          <p:nvPr/>
        </p:nvSpPr>
        <p:spPr>
          <a:xfrm>
            <a:off x="704088" y="2962656"/>
            <a:ext cx="3566160" cy="201168"/>
          </a:xfrm>
          <a:prstGeom prst="rect">
            <a:avLst/>
          </a:prstGeom>
          <a:noFill/>
          <a:ln/>
        </p:spPr>
        <p:txBody>
          <a:bodyPr wrap="square" lIns="0" tIns="0" rIns="0" bIns="0" rtlCol="0" anchor="ctr"/>
          <a:lstStyle/>
          <a:p>
            <a:pPr marL="0" indent="0">
              <a:buNone/>
            </a:pPr>
            <a:r>
              <a:rPr lang="en-US" sz="850" dirty="0">
                <a:solidFill>
                  <a:srgbClr val="64748B"/>
                </a:solidFill>
              </a:rPr>
              <a:t>Utility-first — no CSS files, no class conflicts</a:t>
            </a:r>
            <a:endParaRPr lang="en-US" sz="850" dirty="0"/>
          </a:p>
        </p:txBody>
      </p:sp>
      <p:sp>
        <p:nvSpPr>
          <p:cNvPr id="13" name="Text 11"/>
          <p:cNvSpPr/>
          <p:nvPr/>
        </p:nvSpPr>
        <p:spPr>
          <a:xfrm>
            <a:off x="704088" y="3218688"/>
            <a:ext cx="3566160" cy="219456"/>
          </a:xfrm>
          <a:prstGeom prst="rect">
            <a:avLst/>
          </a:prstGeom>
          <a:noFill/>
          <a:ln/>
        </p:spPr>
        <p:txBody>
          <a:bodyPr wrap="square" lIns="0" tIns="0" rIns="0" bIns="0" rtlCol="0" anchor="ctr"/>
          <a:lstStyle/>
          <a:p>
            <a:pPr marL="0" indent="0">
              <a:buNone/>
            </a:pPr>
            <a:r>
              <a:rPr lang="en-US" sz="1000" b="1" dirty="0">
                <a:solidFill>
                  <a:srgbClr val="1E2761"/>
                </a:solidFill>
              </a:rPr>
              <a:t>Framer Motion</a:t>
            </a:r>
            <a:endParaRPr lang="en-US" sz="1000" dirty="0"/>
          </a:p>
        </p:txBody>
      </p:sp>
      <p:sp>
        <p:nvSpPr>
          <p:cNvPr id="14" name="Text 12"/>
          <p:cNvSpPr/>
          <p:nvPr/>
        </p:nvSpPr>
        <p:spPr>
          <a:xfrm>
            <a:off x="704088" y="3456432"/>
            <a:ext cx="3566160" cy="201168"/>
          </a:xfrm>
          <a:prstGeom prst="rect">
            <a:avLst/>
          </a:prstGeom>
          <a:noFill/>
          <a:ln/>
        </p:spPr>
        <p:txBody>
          <a:bodyPr wrap="square" lIns="0" tIns="0" rIns="0" bIns="0" rtlCol="0" anchor="ctr"/>
          <a:lstStyle/>
          <a:p>
            <a:pPr marL="0" indent="0">
              <a:buNone/>
            </a:pPr>
            <a:r>
              <a:rPr lang="en-US" sz="850" dirty="0">
                <a:solidFill>
                  <a:srgbClr val="64748B"/>
                </a:solidFill>
              </a:rPr>
              <a:t>Agent workflow animations, card transitions</a:t>
            </a:r>
            <a:endParaRPr lang="en-US" sz="850" dirty="0"/>
          </a:p>
        </p:txBody>
      </p:sp>
      <p:sp>
        <p:nvSpPr>
          <p:cNvPr id="15" name="Text 13"/>
          <p:cNvSpPr/>
          <p:nvPr/>
        </p:nvSpPr>
        <p:spPr>
          <a:xfrm>
            <a:off x="704088" y="3712464"/>
            <a:ext cx="3566160" cy="219456"/>
          </a:xfrm>
          <a:prstGeom prst="rect">
            <a:avLst/>
          </a:prstGeom>
          <a:noFill/>
          <a:ln/>
        </p:spPr>
        <p:txBody>
          <a:bodyPr wrap="square" lIns="0" tIns="0" rIns="0" bIns="0" rtlCol="0" anchor="ctr"/>
          <a:lstStyle/>
          <a:p>
            <a:pPr marL="0" indent="0">
              <a:buNone/>
            </a:pPr>
            <a:r>
              <a:rPr lang="en-US" sz="1000" b="1" dirty="0">
                <a:solidFill>
                  <a:srgbClr val="1E2761"/>
                </a:solidFill>
              </a:rPr>
              <a:t>Zustand</a:t>
            </a:r>
            <a:endParaRPr lang="en-US" sz="1000" dirty="0"/>
          </a:p>
        </p:txBody>
      </p:sp>
      <p:sp>
        <p:nvSpPr>
          <p:cNvPr id="16" name="Text 14"/>
          <p:cNvSpPr/>
          <p:nvPr/>
        </p:nvSpPr>
        <p:spPr>
          <a:xfrm>
            <a:off x="704088" y="3950208"/>
            <a:ext cx="3566160" cy="201168"/>
          </a:xfrm>
          <a:prstGeom prst="rect">
            <a:avLst/>
          </a:prstGeom>
          <a:noFill/>
          <a:ln/>
        </p:spPr>
        <p:txBody>
          <a:bodyPr wrap="square" lIns="0" tIns="0" rIns="0" bIns="0" rtlCol="0" anchor="ctr"/>
          <a:lstStyle/>
          <a:p>
            <a:pPr marL="0" indent="0">
              <a:buNone/>
            </a:pPr>
            <a:r>
              <a:rPr lang="en-US" sz="850" dirty="0">
                <a:solidFill>
                  <a:srgbClr val="64748B"/>
                </a:solidFill>
              </a:rPr>
              <a:t>Global state — one store, zero boilerplate</a:t>
            </a:r>
            <a:endParaRPr lang="en-US" sz="850" dirty="0"/>
          </a:p>
        </p:txBody>
      </p:sp>
      <p:sp>
        <p:nvSpPr>
          <p:cNvPr id="17" name="Text 15"/>
          <p:cNvSpPr/>
          <p:nvPr/>
        </p:nvSpPr>
        <p:spPr>
          <a:xfrm>
            <a:off x="704088" y="4206240"/>
            <a:ext cx="3566160" cy="219456"/>
          </a:xfrm>
          <a:prstGeom prst="rect">
            <a:avLst/>
          </a:prstGeom>
          <a:noFill/>
          <a:ln/>
        </p:spPr>
        <p:txBody>
          <a:bodyPr wrap="square" lIns="0" tIns="0" rIns="0" bIns="0" rtlCol="0" anchor="ctr"/>
          <a:lstStyle/>
          <a:p>
            <a:pPr marL="0" indent="0">
              <a:buNone/>
            </a:pPr>
            <a:r>
              <a:rPr lang="en-US" sz="1000" b="1" dirty="0">
                <a:solidFill>
                  <a:srgbClr val="1E2761"/>
                </a:solidFill>
              </a:rPr>
              <a:t>Recharts</a:t>
            </a:r>
            <a:endParaRPr lang="en-US" sz="1000" dirty="0"/>
          </a:p>
        </p:txBody>
      </p:sp>
      <p:sp>
        <p:nvSpPr>
          <p:cNvPr id="18" name="Text 16"/>
          <p:cNvSpPr/>
          <p:nvPr/>
        </p:nvSpPr>
        <p:spPr>
          <a:xfrm>
            <a:off x="704088" y="4443984"/>
            <a:ext cx="3566160" cy="201168"/>
          </a:xfrm>
          <a:prstGeom prst="rect">
            <a:avLst/>
          </a:prstGeom>
          <a:noFill/>
          <a:ln/>
        </p:spPr>
        <p:txBody>
          <a:bodyPr wrap="square" lIns="0" tIns="0" rIns="0" bIns="0" rtlCol="0" anchor="ctr"/>
          <a:lstStyle/>
          <a:p>
            <a:pPr marL="0" indent="0">
              <a:buNone/>
            </a:pPr>
            <a:r>
              <a:rPr lang="en-US" sz="850" dirty="0">
                <a:solidFill>
                  <a:srgbClr val="64748B"/>
                </a:solidFill>
              </a:rPr>
              <a:t>Analytics charts — native, editable data</a:t>
            </a:r>
            <a:endParaRPr lang="en-US" sz="850" dirty="0"/>
          </a:p>
        </p:txBody>
      </p:sp>
      <p:sp>
        <p:nvSpPr>
          <p:cNvPr id="19" name="Shape 17"/>
          <p:cNvSpPr/>
          <p:nvPr/>
        </p:nvSpPr>
        <p:spPr>
          <a:xfrm>
            <a:off x="4846320" y="1234440"/>
            <a:ext cx="3977640" cy="3566160"/>
          </a:xfrm>
          <a:prstGeom prst="roundRect">
            <a:avLst>
              <a:gd name="adj" fmla="val 2564"/>
            </a:avLst>
          </a:prstGeom>
          <a:solidFill>
            <a:srgbClr val="F0FDF4"/>
          </a:solidFill>
          <a:ln w="19050">
            <a:solidFill>
              <a:srgbClr val="86EFAC"/>
            </a:solidFill>
            <a:prstDash val="solid"/>
          </a:ln>
          <a:effectLst>
            <a:outerShdw blurRad="101600" dist="38100" dir="2700000" algn="bl" rotWithShape="0">
              <a:srgbClr val="000000">
                <a:alpha val="10000"/>
              </a:srgbClr>
            </a:outerShdw>
          </a:effectLst>
        </p:spPr>
      </p:sp>
      <p:sp>
        <p:nvSpPr>
          <p:cNvPr id="20" name="Text 18"/>
          <p:cNvSpPr/>
          <p:nvPr/>
        </p:nvSpPr>
        <p:spPr>
          <a:xfrm>
            <a:off x="4846320" y="1325880"/>
            <a:ext cx="3977640" cy="292608"/>
          </a:xfrm>
          <a:prstGeom prst="rect">
            <a:avLst/>
          </a:prstGeom>
          <a:noFill/>
          <a:ln/>
        </p:spPr>
        <p:txBody>
          <a:bodyPr wrap="square" lIns="0" tIns="0" rIns="0" bIns="0" rtlCol="0" anchor="ctr"/>
          <a:lstStyle/>
          <a:p>
            <a:pPr marL="0" indent="0" algn="ctr">
              <a:buNone/>
            </a:pPr>
            <a:r>
              <a:rPr lang="en-US" sz="1300" b="1" dirty="0">
                <a:solidFill>
                  <a:srgbClr val="1E293B"/>
                </a:solidFill>
              </a:rPr>
              <a:t>Backend</a:t>
            </a:r>
            <a:endParaRPr lang="en-US" sz="1300" dirty="0"/>
          </a:p>
        </p:txBody>
      </p:sp>
      <p:sp>
        <p:nvSpPr>
          <p:cNvPr id="21" name="Text 19"/>
          <p:cNvSpPr/>
          <p:nvPr/>
        </p:nvSpPr>
        <p:spPr>
          <a:xfrm>
            <a:off x="5047488" y="1737360"/>
            <a:ext cx="3566160" cy="219456"/>
          </a:xfrm>
          <a:prstGeom prst="rect">
            <a:avLst/>
          </a:prstGeom>
          <a:noFill/>
          <a:ln/>
        </p:spPr>
        <p:txBody>
          <a:bodyPr wrap="square" lIns="0" tIns="0" rIns="0" bIns="0" rtlCol="0" anchor="ctr"/>
          <a:lstStyle/>
          <a:p>
            <a:pPr marL="0" indent="0">
              <a:buNone/>
            </a:pPr>
            <a:r>
              <a:rPr lang="en-US" sz="1000" b="1" dirty="0">
                <a:solidFill>
                  <a:srgbClr val="1E2761"/>
                </a:solidFill>
              </a:rPr>
              <a:t>FastAPI (Python)</a:t>
            </a:r>
            <a:endParaRPr lang="en-US" sz="1000" dirty="0"/>
          </a:p>
        </p:txBody>
      </p:sp>
      <p:sp>
        <p:nvSpPr>
          <p:cNvPr id="22" name="Text 20"/>
          <p:cNvSpPr/>
          <p:nvPr/>
        </p:nvSpPr>
        <p:spPr>
          <a:xfrm>
            <a:off x="5047488" y="1975104"/>
            <a:ext cx="3566160" cy="201168"/>
          </a:xfrm>
          <a:prstGeom prst="rect">
            <a:avLst/>
          </a:prstGeom>
          <a:noFill/>
          <a:ln/>
        </p:spPr>
        <p:txBody>
          <a:bodyPr wrap="square" lIns="0" tIns="0" rIns="0" bIns="0" rtlCol="0" anchor="ctr"/>
          <a:lstStyle/>
          <a:p>
            <a:pPr marL="0" indent="0">
              <a:buNone/>
            </a:pPr>
            <a:r>
              <a:rPr lang="en-US" sz="850" dirty="0">
                <a:solidFill>
                  <a:srgbClr val="64748B"/>
                </a:solidFill>
              </a:rPr>
              <a:t>Async REST API, auto-generated OpenAPI docs</a:t>
            </a:r>
            <a:endParaRPr lang="en-US" sz="850" dirty="0"/>
          </a:p>
        </p:txBody>
      </p:sp>
      <p:sp>
        <p:nvSpPr>
          <p:cNvPr id="23" name="Text 21"/>
          <p:cNvSpPr/>
          <p:nvPr/>
        </p:nvSpPr>
        <p:spPr>
          <a:xfrm>
            <a:off x="5047488" y="2231136"/>
            <a:ext cx="3566160" cy="219456"/>
          </a:xfrm>
          <a:prstGeom prst="rect">
            <a:avLst/>
          </a:prstGeom>
          <a:noFill/>
          <a:ln/>
        </p:spPr>
        <p:txBody>
          <a:bodyPr wrap="square" lIns="0" tIns="0" rIns="0" bIns="0" rtlCol="0" anchor="ctr"/>
          <a:lstStyle/>
          <a:p>
            <a:pPr marL="0" indent="0">
              <a:buNone/>
            </a:pPr>
            <a:r>
              <a:rPr lang="en-US" sz="1000" b="1" dirty="0">
                <a:solidFill>
                  <a:srgbClr val="1E2761"/>
                </a:solidFill>
              </a:rPr>
              <a:t>Multi-Agent system</a:t>
            </a:r>
            <a:endParaRPr lang="en-US" sz="1000" dirty="0"/>
          </a:p>
        </p:txBody>
      </p:sp>
      <p:sp>
        <p:nvSpPr>
          <p:cNvPr id="24" name="Text 22"/>
          <p:cNvSpPr/>
          <p:nvPr/>
        </p:nvSpPr>
        <p:spPr>
          <a:xfrm>
            <a:off x="5047488" y="2468880"/>
            <a:ext cx="3566160" cy="201168"/>
          </a:xfrm>
          <a:prstGeom prst="rect">
            <a:avLst/>
          </a:prstGeom>
          <a:noFill/>
          <a:ln/>
        </p:spPr>
        <p:txBody>
          <a:bodyPr wrap="square" lIns="0" tIns="0" rIns="0" bIns="0" rtlCol="0" anchor="ctr"/>
          <a:lstStyle/>
          <a:p>
            <a:pPr marL="0" indent="0">
              <a:buNone/>
            </a:pPr>
            <a:r>
              <a:rPr lang="en-US" sz="850" dirty="0">
                <a:solidFill>
                  <a:srgbClr val="64748B"/>
                </a:solidFill>
              </a:rPr>
              <a:t>6 specialized agents, sequential orchestration</a:t>
            </a:r>
            <a:endParaRPr lang="en-US" sz="850" dirty="0"/>
          </a:p>
        </p:txBody>
      </p:sp>
      <p:sp>
        <p:nvSpPr>
          <p:cNvPr id="25" name="Text 23"/>
          <p:cNvSpPr/>
          <p:nvPr/>
        </p:nvSpPr>
        <p:spPr>
          <a:xfrm>
            <a:off x="5047488" y="2724912"/>
            <a:ext cx="3566160" cy="219456"/>
          </a:xfrm>
          <a:prstGeom prst="rect">
            <a:avLst/>
          </a:prstGeom>
          <a:noFill/>
          <a:ln/>
        </p:spPr>
        <p:txBody>
          <a:bodyPr wrap="square" lIns="0" tIns="0" rIns="0" bIns="0" rtlCol="0" anchor="ctr"/>
          <a:lstStyle/>
          <a:p>
            <a:pPr marL="0" indent="0">
              <a:buNone/>
            </a:pPr>
            <a:r>
              <a:rPr lang="en-US" sz="1000" b="1" dirty="0">
                <a:solidFill>
                  <a:srgbClr val="1E2761"/>
                </a:solidFill>
              </a:rPr>
              <a:t>Pydantic</a:t>
            </a:r>
            <a:endParaRPr lang="en-US" sz="1000" dirty="0"/>
          </a:p>
        </p:txBody>
      </p:sp>
      <p:sp>
        <p:nvSpPr>
          <p:cNvPr id="26" name="Text 24"/>
          <p:cNvSpPr/>
          <p:nvPr/>
        </p:nvSpPr>
        <p:spPr>
          <a:xfrm>
            <a:off x="5047488" y="2962656"/>
            <a:ext cx="3566160" cy="201168"/>
          </a:xfrm>
          <a:prstGeom prst="rect">
            <a:avLst/>
          </a:prstGeom>
          <a:noFill/>
          <a:ln/>
        </p:spPr>
        <p:txBody>
          <a:bodyPr wrap="square" lIns="0" tIns="0" rIns="0" bIns="0" rtlCol="0" anchor="ctr"/>
          <a:lstStyle/>
          <a:p>
            <a:pPr marL="0" indent="0">
              <a:buNone/>
            </a:pPr>
            <a:r>
              <a:rPr lang="en-US" sz="850" dirty="0">
                <a:solidFill>
                  <a:srgbClr val="64748B"/>
                </a:solidFill>
              </a:rPr>
              <a:t>Input/output schema validation</a:t>
            </a:r>
            <a:endParaRPr lang="en-US" sz="850" dirty="0"/>
          </a:p>
        </p:txBody>
      </p:sp>
      <p:sp>
        <p:nvSpPr>
          <p:cNvPr id="27" name="Text 25"/>
          <p:cNvSpPr/>
          <p:nvPr/>
        </p:nvSpPr>
        <p:spPr>
          <a:xfrm>
            <a:off x="5047488" y="3218688"/>
            <a:ext cx="3566160" cy="219456"/>
          </a:xfrm>
          <a:prstGeom prst="rect">
            <a:avLst/>
          </a:prstGeom>
          <a:noFill/>
          <a:ln/>
        </p:spPr>
        <p:txBody>
          <a:bodyPr wrap="square" lIns="0" tIns="0" rIns="0" bIns="0" rtlCol="0" anchor="ctr"/>
          <a:lstStyle/>
          <a:p>
            <a:pPr marL="0" indent="0">
              <a:buNone/>
            </a:pPr>
            <a:r>
              <a:rPr lang="en-US" sz="1000" b="1" dirty="0">
                <a:solidFill>
                  <a:srgbClr val="1E2761"/>
                </a:solidFill>
              </a:rPr>
              <a:t>Google AI</a:t>
            </a:r>
            <a:endParaRPr lang="en-US" sz="1000" dirty="0"/>
          </a:p>
        </p:txBody>
      </p:sp>
      <p:sp>
        <p:nvSpPr>
          <p:cNvPr id="28" name="Text 26"/>
          <p:cNvSpPr/>
          <p:nvPr/>
        </p:nvSpPr>
        <p:spPr>
          <a:xfrm>
            <a:off x="5047488" y="3456432"/>
            <a:ext cx="3566160" cy="201168"/>
          </a:xfrm>
          <a:prstGeom prst="rect">
            <a:avLst/>
          </a:prstGeom>
          <a:noFill/>
          <a:ln/>
        </p:spPr>
        <p:txBody>
          <a:bodyPr wrap="square" lIns="0" tIns="0" rIns="0" bIns="0" rtlCol="0" anchor="ctr"/>
          <a:lstStyle/>
          <a:p>
            <a:pPr marL="0" indent="0">
              <a:buNone/>
            </a:pPr>
            <a:r>
              <a:rPr lang="en-US" sz="850" dirty="0">
                <a:solidFill>
                  <a:srgbClr val="64748B"/>
                </a:solidFill>
              </a:rPr>
              <a:t>Agent intelligence layer</a:t>
            </a:r>
            <a:endParaRPr lang="en-US" sz="850" dirty="0"/>
          </a:p>
        </p:txBody>
      </p:sp>
      <p:sp>
        <p:nvSpPr>
          <p:cNvPr id="29" name="Text 27"/>
          <p:cNvSpPr/>
          <p:nvPr/>
        </p:nvSpPr>
        <p:spPr>
          <a:xfrm>
            <a:off x="5047488" y="3712464"/>
            <a:ext cx="3566160" cy="219456"/>
          </a:xfrm>
          <a:prstGeom prst="rect">
            <a:avLst/>
          </a:prstGeom>
          <a:noFill/>
          <a:ln/>
        </p:spPr>
        <p:txBody>
          <a:bodyPr wrap="square" lIns="0" tIns="0" rIns="0" bIns="0" rtlCol="0" anchor="ctr"/>
          <a:lstStyle/>
          <a:p>
            <a:pPr marL="0" indent="0">
              <a:buNone/>
            </a:pPr>
            <a:r>
              <a:rPr lang="en-US" sz="1000" b="1" dirty="0">
                <a:solidFill>
                  <a:srgbClr val="1E2761"/>
                </a:solidFill>
              </a:rPr>
              <a:t>CORS + error handling</a:t>
            </a:r>
            <a:endParaRPr lang="en-US" sz="1000" dirty="0"/>
          </a:p>
        </p:txBody>
      </p:sp>
      <p:sp>
        <p:nvSpPr>
          <p:cNvPr id="30" name="Text 28"/>
          <p:cNvSpPr/>
          <p:nvPr/>
        </p:nvSpPr>
        <p:spPr>
          <a:xfrm>
            <a:off x="5047488" y="3950208"/>
            <a:ext cx="3566160" cy="201168"/>
          </a:xfrm>
          <a:prstGeom prst="rect">
            <a:avLst/>
          </a:prstGeom>
          <a:noFill/>
          <a:ln/>
        </p:spPr>
        <p:txBody>
          <a:bodyPr wrap="square" lIns="0" tIns="0" rIns="0" bIns="0" rtlCol="0" anchor="ctr"/>
          <a:lstStyle/>
          <a:p>
            <a:pPr marL="0" indent="0">
              <a:buNone/>
            </a:pPr>
            <a:r>
              <a:rPr lang="en-US" sz="850" dirty="0">
                <a:solidFill>
                  <a:srgbClr val="64748B"/>
                </a:solidFill>
              </a:rPr>
              <a:t>Production-ready middleware</a:t>
            </a:r>
            <a:endParaRPr lang="en-US" sz="850" dirty="0"/>
          </a:p>
        </p:txBody>
      </p:sp>
      <p:sp>
        <p:nvSpPr>
          <p:cNvPr id="31" name="Text 29"/>
          <p:cNvSpPr/>
          <p:nvPr/>
        </p:nvSpPr>
        <p:spPr>
          <a:xfrm>
            <a:off x="5047488" y="4206240"/>
            <a:ext cx="3566160" cy="219456"/>
          </a:xfrm>
          <a:prstGeom prst="rect">
            <a:avLst/>
          </a:prstGeom>
          <a:noFill/>
          <a:ln/>
        </p:spPr>
        <p:txBody>
          <a:bodyPr wrap="square" lIns="0" tIns="0" rIns="0" bIns="0" rtlCol="0" anchor="ctr"/>
          <a:lstStyle/>
          <a:p>
            <a:pPr marL="0" indent="0">
              <a:buNone/>
            </a:pPr>
            <a:r>
              <a:rPr lang="en-US" sz="1000" b="1" dirty="0">
                <a:solidFill>
                  <a:srgbClr val="1E2761"/>
                </a:solidFill>
              </a:rPr>
              <a:t>JSON contract</a:t>
            </a:r>
            <a:endParaRPr lang="en-US" sz="1000" dirty="0"/>
          </a:p>
        </p:txBody>
      </p:sp>
      <p:sp>
        <p:nvSpPr>
          <p:cNvPr id="32" name="Text 30"/>
          <p:cNvSpPr/>
          <p:nvPr/>
        </p:nvSpPr>
        <p:spPr>
          <a:xfrm>
            <a:off x="5047488" y="4443984"/>
            <a:ext cx="3566160" cy="201168"/>
          </a:xfrm>
          <a:prstGeom prst="rect">
            <a:avLst/>
          </a:prstGeom>
          <a:noFill/>
          <a:ln/>
        </p:spPr>
        <p:txBody>
          <a:bodyPr wrap="square" lIns="0" tIns="0" rIns="0" bIns="0" rtlCol="0" anchor="ctr"/>
          <a:lstStyle/>
          <a:p>
            <a:pPr marL="0" indent="0">
              <a:buNone/>
            </a:pPr>
            <a:r>
              <a:rPr lang="en-US" sz="850" dirty="0">
                <a:solidFill>
                  <a:srgbClr val="64748B"/>
                </a:solidFill>
              </a:rPr>
              <a:t>Strict response schema consumed by frontend</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47472"/>
            <a:ext cx="1129284" cy="256032"/>
          </a:xfrm>
          <a:prstGeom prst="rect">
            <a:avLst/>
          </a:prstGeom>
          <a:solidFill>
            <a:srgbClr val="1E2761"/>
          </a:solidFill>
          <a:ln w="12700">
            <a:solidFill>
              <a:srgbClr val="1E2761"/>
            </a:solidFill>
            <a:prstDash val="solid"/>
          </a:ln>
        </p:spPr>
      </p:sp>
      <p:sp>
        <p:nvSpPr>
          <p:cNvPr id="3" name="Text 1"/>
          <p:cNvSpPr/>
          <p:nvPr/>
        </p:nvSpPr>
        <p:spPr>
          <a:xfrm>
            <a:off x="548640" y="356616"/>
            <a:ext cx="2286000" cy="256032"/>
          </a:xfrm>
          <a:prstGeom prst="rect">
            <a:avLst/>
          </a:prstGeom>
          <a:noFill/>
          <a:ln/>
        </p:spPr>
        <p:txBody>
          <a:bodyPr wrap="square" lIns="0" tIns="76200" rIns="0" bIns="0" rtlCol="0" anchor="ctr"/>
          <a:lstStyle/>
          <a:p>
            <a:pPr marL="0" indent="0">
              <a:buNone/>
            </a:pPr>
            <a:r>
              <a:rPr lang="en-US" sz="800" b="1" kern="0" spc="200" dirty="0">
                <a:solidFill>
                  <a:srgbClr val="FFFFFF"/>
                </a:solidFill>
              </a:rPr>
              <a:t>FUTURE WORK</a:t>
            </a:r>
            <a:endParaRPr lang="en-US" sz="800" dirty="0"/>
          </a:p>
        </p:txBody>
      </p:sp>
      <p:sp>
        <p:nvSpPr>
          <p:cNvPr id="4" name="Text 2"/>
          <p:cNvSpPr/>
          <p:nvPr/>
        </p:nvSpPr>
        <p:spPr>
          <a:xfrm>
            <a:off x="548640" y="658368"/>
            <a:ext cx="8046720" cy="475488"/>
          </a:xfrm>
          <a:prstGeom prst="rect">
            <a:avLst/>
          </a:prstGeom>
          <a:noFill/>
          <a:ln/>
        </p:spPr>
        <p:txBody>
          <a:bodyPr wrap="square" lIns="0" tIns="0" rIns="0" bIns="0" rtlCol="0" anchor="ctr"/>
          <a:lstStyle/>
          <a:p>
            <a:pPr marL="0" indent="0">
              <a:buNone/>
            </a:pPr>
            <a:r>
              <a:rPr lang="en-US" sz="2200" b="1" dirty="0">
                <a:solidFill>
                  <a:srgbClr val="1E293B"/>
                </a:solidFill>
              </a:rPr>
              <a:t>Designed to scale. Four clear next steps.</a:t>
            </a:r>
            <a:endParaRPr lang="en-US" sz="2200" dirty="0"/>
          </a:p>
        </p:txBody>
      </p:sp>
      <p:sp>
        <p:nvSpPr>
          <p:cNvPr id="5" name="Shape 3"/>
          <p:cNvSpPr/>
          <p:nvPr/>
        </p:nvSpPr>
        <p:spPr>
          <a:xfrm>
            <a:off x="502920" y="1298448"/>
            <a:ext cx="4023360" cy="1481328"/>
          </a:xfrm>
          <a:prstGeom prst="roundRect">
            <a:avLst>
              <a:gd name="adj" fmla="val 6173"/>
            </a:avLst>
          </a:prstGeom>
          <a:solidFill>
            <a:srgbClr val="EEF2FF"/>
          </a:solidFill>
          <a:ln w="19050">
            <a:solidFill>
              <a:srgbClr val="A5B4FC"/>
            </a:solidFill>
            <a:prstDash val="solid"/>
          </a:ln>
          <a:effectLst>
            <a:outerShdw blurRad="101600" dist="38100" dir="2700000" algn="bl" rotWithShape="0">
              <a:srgbClr val="000000">
                <a:alpha val="10000"/>
              </a:srgbClr>
            </a:outerShdw>
          </a:effectLst>
        </p:spPr>
      </p:sp>
      <p:sp>
        <p:nvSpPr>
          <p:cNvPr id="6" name="Text 4"/>
          <p:cNvSpPr/>
          <p:nvPr/>
        </p:nvSpPr>
        <p:spPr>
          <a:xfrm>
            <a:off x="685800" y="1463040"/>
            <a:ext cx="502920" cy="457200"/>
          </a:xfrm>
          <a:prstGeom prst="rect">
            <a:avLst/>
          </a:prstGeom>
          <a:noFill/>
          <a:ln/>
        </p:spPr>
        <p:txBody>
          <a:bodyPr wrap="square" lIns="0" tIns="0" rIns="0" bIns="0" rtlCol="0" anchor="ctr"/>
          <a:lstStyle/>
          <a:p>
            <a:pPr marL="0" indent="0">
              <a:buNone/>
            </a:pPr>
            <a:r>
              <a:rPr lang="en-US" sz="2200" b="1" dirty="0">
                <a:solidFill>
                  <a:srgbClr val="1E2761"/>
                </a:solidFill>
              </a:rPr>
              <a:t>01</a:t>
            </a:r>
            <a:endParaRPr lang="en-US" sz="2200" dirty="0"/>
          </a:p>
        </p:txBody>
      </p:sp>
      <p:sp>
        <p:nvSpPr>
          <p:cNvPr id="7" name="Text 5"/>
          <p:cNvSpPr/>
          <p:nvPr/>
        </p:nvSpPr>
        <p:spPr>
          <a:xfrm>
            <a:off x="685800" y="1892808"/>
            <a:ext cx="3703320" cy="256032"/>
          </a:xfrm>
          <a:prstGeom prst="rect">
            <a:avLst/>
          </a:prstGeom>
          <a:noFill/>
          <a:ln/>
        </p:spPr>
        <p:txBody>
          <a:bodyPr wrap="square" lIns="0" tIns="0" rIns="0" bIns="0" rtlCol="0" anchor="ctr"/>
          <a:lstStyle/>
          <a:p>
            <a:pPr marL="0" indent="0">
              <a:buNone/>
            </a:pPr>
            <a:r>
              <a:rPr lang="en-US" sz="1200" b="1" dirty="0">
                <a:solidFill>
                  <a:srgbClr val="1E293B"/>
                </a:solidFill>
              </a:rPr>
              <a:t>WebSocket live updates</a:t>
            </a:r>
            <a:endParaRPr lang="en-US" sz="1200" dirty="0"/>
          </a:p>
        </p:txBody>
      </p:sp>
      <p:sp>
        <p:nvSpPr>
          <p:cNvPr id="8" name="Text 6"/>
          <p:cNvSpPr/>
          <p:nvPr/>
        </p:nvSpPr>
        <p:spPr>
          <a:xfrm>
            <a:off x="685800" y="2176272"/>
            <a:ext cx="3703320" cy="411480"/>
          </a:xfrm>
          <a:prstGeom prst="rect">
            <a:avLst/>
          </a:prstGeom>
          <a:noFill/>
          <a:ln/>
        </p:spPr>
        <p:txBody>
          <a:bodyPr wrap="square" lIns="0" tIns="0" rIns="0" bIns="0" rtlCol="0" anchor="ctr"/>
          <a:lstStyle/>
          <a:p>
            <a:pPr marL="0" indent="0">
              <a:buNone/>
            </a:pPr>
            <a:r>
              <a:rPr lang="en-US" sz="950" dirty="0">
                <a:solidFill>
                  <a:srgbClr val="64748B"/>
                </a:solidFill>
              </a:rPr>
              <a:t>Replace polling with WebSocket push so operators see changes in &lt; 500ms</a:t>
            </a:r>
            <a:endParaRPr lang="en-US" sz="950" dirty="0"/>
          </a:p>
        </p:txBody>
      </p:sp>
      <p:sp>
        <p:nvSpPr>
          <p:cNvPr id="9" name="Shape 7"/>
          <p:cNvSpPr/>
          <p:nvPr/>
        </p:nvSpPr>
        <p:spPr>
          <a:xfrm>
            <a:off x="4846320" y="1298448"/>
            <a:ext cx="4023360" cy="1481328"/>
          </a:xfrm>
          <a:prstGeom prst="roundRect">
            <a:avLst>
              <a:gd name="adj" fmla="val 6173"/>
            </a:avLst>
          </a:prstGeom>
          <a:solidFill>
            <a:srgbClr val="F0FDF4"/>
          </a:solidFill>
          <a:ln w="19050">
            <a:solidFill>
              <a:srgbClr val="86EFAC"/>
            </a:solidFill>
            <a:prstDash val="solid"/>
          </a:ln>
          <a:effectLst>
            <a:outerShdw blurRad="101600" dist="38100" dir="2700000" algn="bl" rotWithShape="0">
              <a:srgbClr val="000000">
                <a:alpha val="10000"/>
              </a:srgbClr>
            </a:outerShdw>
          </a:effectLst>
        </p:spPr>
      </p:sp>
      <p:sp>
        <p:nvSpPr>
          <p:cNvPr id="10" name="Text 8"/>
          <p:cNvSpPr/>
          <p:nvPr/>
        </p:nvSpPr>
        <p:spPr>
          <a:xfrm>
            <a:off x="5029200" y="1463040"/>
            <a:ext cx="502920" cy="457200"/>
          </a:xfrm>
          <a:prstGeom prst="rect">
            <a:avLst/>
          </a:prstGeom>
          <a:noFill/>
          <a:ln/>
        </p:spPr>
        <p:txBody>
          <a:bodyPr wrap="square" lIns="0" tIns="0" rIns="0" bIns="0" rtlCol="0" anchor="ctr"/>
          <a:lstStyle/>
          <a:p>
            <a:pPr marL="0" indent="0">
              <a:buNone/>
            </a:pPr>
            <a:r>
              <a:rPr lang="en-US" sz="2200" b="1" dirty="0">
                <a:solidFill>
                  <a:srgbClr val="86EFAC"/>
                </a:solidFill>
              </a:rPr>
              <a:t>02</a:t>
            </a:r>
            <a:endParaRPr lang="en-US" sz="2200" dirty="0"/>
          </a:p>
        </p:txBody>
      </p:sp>
      <p:sp>
        <p:nvSpPr>
          <p:cNvPr id="11" name="Text 9"/>
          <p:cNvSpPr/>
          <p:nvPr/>
        </p:nvSpPr>
        <p:spPr>
          <a:xfrm>
            <a:off x="5029200" y="1892808"/>
            <a:ext cx="3703320" cy="256032"/>
          </a:xfrm>
          <a:prstGeom prst="rect">
            <a:avLst/>
          </a:prstGeom>
          <a:noFill/>
          <a:ln/>
        </p:spPr>
        <p:txBody>
          <a:bodyPr wrap="square" lIns="0" tIns="0" rIns="0" bIns="0" rtlCol="0" anchor="ctr"/>
          <a:lstStyle/>
          <a:p>
            <a:pPr marL="0" indent="0">
              <a:buNone/>
            </a:pPr>
            <a:r>
              <a:rPr lang="en-US" sz="1200" b="1" dirty="0">
                <a:solidFill>
                  <a:srgbClr val="1E293B"/>
                </a:solidFill>
              </a:rPr>
              <a:t>Real geospatial routing</a:t>
            </a:r>
            <a:endParaRPr lang="en-US" sz="1200" dirty="0"/>
          </a:p>
        </p:txBody>
      </p:sp>
      <p:sp>
        <p:nvSpPr>
          <p:cNvPr id="12" name="Text 10"/>
          <p:cNvSpPr/>
          <p:nvPr/>
        </p:nvSpPr>
        <p:spPr>
          <a:xfrm>
            <a:off x="5029200" y="2176272"/>
            <a:ext cx="3703320" cy="411480"/>
          </a:xfrm>
          <a:prstGeom prst="rect">
            <a:avLst/>
          </a:prstGeom>
          <a:noFill/>
          <a:ln/>
        </p:spPr>
        <p:txBody>
          <a:bodyPr wrap="square" lIns="0" tIns="0" rIns="0" bIns="0" rtlCol="0" anchor="ctr"/>
          <a:lstStyle/>
          <a:p>
            <a:pPr marL="0" indent="0">
              <a:buNone/>
            </a:pPr>
            <a:r>
              <a:rPr lang="en-US" sz="950" dirty="0">
                <a:solidFill>
                  <a:srgbClr val="64748B"/>
                </a:solidFill>
              </a:rPr>
              <a:t>Integrate OpenStreetMap + Overpass API to route resources around blocked roads</a:t>
            </a:r>
            <a:endParaRPr lang="en-US" sz="950" dirty="0"/>
          </a:p>
        </p:txBody>
      </p:sp>
      <p:sp>
        <p:nvSpPr>
          <p:cNvPr id="13" name="Shape 11"/>
          <p:cNvSpPr/>
          <p:nvPr/>
        </p:nvSpPr>
        <p:spPr>
          <a:xfrm>
            <a:off x="502920" y="2990088"/>
            <a:ext cx="4023360" cy="1481328"/>
          </a:xfrm>
          <a:prstGeom prst="roundRect">
            <a:avLst>
              <a:gd name="adj" fmla="val 6173"/>
            </a:avLst>
          </a:prstGeom>
          <a:solidFill>
            <a:srgbClr val="FFF7ED"/>
          </a:solidFill>
          <a:ln w="19050">
            <a:solidFill>
              <a:srgbClr val="FCA5A5"/>
            </a:solidFill>
            <a:prstDash val="solid"/>
          </a:ln>
          <a:effectLst>
            <a:outerShdw blurRad="101600" dist="38100" dir="2700000" algn="bl" rotWithShape="0">
              <a:srgbClr val="000000">
                <a:alpha val="10000"/>
              </a:srgbClr>
            </a:outerShdw>
          </a:effectLst>
        </p:spPr>
      </p:sp>
      <p:sp>
        <p:nvSpPr>
          <p:cNvPr id="14" name="Text 12"/>
          <p:cNvSpPr/>
          <p:nvPr/>
        </p:nvSpPr>
        <p:spPr>
          <a:xfrm>
            <a:off x="685800" y="3154680"/>
            <a:ext cx="502920" cy="457200"/>
          </a:xfrm>
          <a:prstGeom prst="rect">
            <a:avLst/>
          </a:prstGeom>
          <a:noFill/>
          <a:ln/>
        </p:spPr>
        <p:txBody>
          <a:bodyPr wrap="square" lIns="0" tIns="0" rIns="0" bIns="0" rtlCol="0" anchor="ctr"/>
          <a:lstStyle/>
          <a:p>
            <a:pPr marL="0" indent="0">
              <a:buNone/>
            </a:pPr>
            <a:r>
              <a:rPr lang="en-US" sz="2200" b="1" dirty="0">
                <a:solidFill>
                  <a:srgbClr val="FCA5A5"/>
                </a:solidFill>
              </a:rPr>
              <a:t>03</a:t>
            </a:r>
            <a:endParaRPr lang="en-US" sz="2200" dirty="0"/>
          </a:p>
        </p:txBody>
      </p:sp>
      <p:sp>
        <p:nvSpPr>
          <p:cNvPr id="15" name="Text 13"/>
          <p:cNvSpPr/>
          <p:nvPr/>
        </p:nvSpPr>
        <p:spPr>
          <a:xfrm>
            <a:off x="685800" y="3584448"/>
            <a:ext cx="3703320" cy="256032"/>
          </a:xfrm>
          <a:prstGeom prst="rect">
            <a:avLst/>
          </a:prstGeom>
          <a:noFill/>
          <a:ln/>
        </p:spPr>
        <p:txBody>
          <a:bodyPr wrap="square" lIns="0" tIns="0" rIns="0" bIns="0" rtlCol="0" anchor="ctr"/>
          <a:lstStyle/>
          <a:p>
            <a:pPr marL="0" indent="0">
              <a:buNone/>
            </a:pPr>
            <a:r>
              <a:rPr lang="en-US" sz="1200" b="1" dirty="0">
                <a:solidFill>
                  <a:srgbClr val="1E293B"/>
                </a:solidFill>
              </a:rPr>
              <a:t>Multi-incident orchestration</a:t>
            </a:r>
            <a:endParaRPr lang="en-US" sz="1200" dirty="0"/>
          </a:p>
        </p:txBody>
      </p:sp>
      <p:sp>
        <p:nvSpPr>
          <p:cNvPr id="16" name="Text 14"/>
          <p:cNvSpPr/>
          <p:nvPr/>
        </p:nvSpPr>
        <p:spPr>
          <a:xfrm>
            <a:off x="685800" y="3867912"/>
            <a:ext cx="3703320" cy="411480"/>
          </a:xfrm>
          <a:prstGeom prst="rect">
            <a:avLst/>
          </a:prstGeom>
          <a:noFill/>
          <a:ln/>
        </p:spPr>
        <p:txBody>
          <a:bodyPr wrap="square" lIns="0" tIns="0" rIns="0" bIns="0" rtlCol="0" anchor="ctr"/>
          <a:lstStyle/>
          <a:p>
            <a:pPr marL="0" indent="0">
              <a:buNone/>
            </a:pPr>
            <a:r>
              <a:rPr lang="en-US" sz="950" dirty="0">
                <a:solidFill>
                  <a:srgbClr val="64748B"/>
                </a:solidFill>
              </a:rPr>
              <a:t>Queue concurrent incidents; agents share resource availability state</a:t>
            </a:r>
            <a:endParaRPr lang="en-US" sz="950" dirty="0"/>
          </a:p>
        </p:txBody>
      </p:sp>
      <p:sp>
        <p:nvSpPr>
          <p:cNvPr id="17" name="Shape 15"/>
          <p:cNvSpPr/>
          <p:nvPr/>
        </p:nvSpPr>
        <p:spPr>
          <a:xfrm>
            <a:off x="4846320" y="2990088"/>
            <a:ext cx="4023360" cy="1481328"/>
          </a:xfrm>
          <a:prstGeom prst="roundRect">
            <a:avLst>
              <a:gd name="adj" fmla="val 6173"/>
            </a:avLst>
          </a:prstGeom>
          <a:solidFill>
            <a:srgbClr val="FDF4FF"/>
          </a:solidFill>
          <a:ln w="19050">
            <a:solidFill>
              <a:srgbClr val="D8B4FE"/>
            </a:solidFill>
            <a:prstDash val="solid"/>
          </a:ln>
          <a:effectLst>
            <a:outerShdw blurRad="101600" dist="38100" dir="2700000" algn="bl" rotWithShape="0">
              <a:srgbClr val="000000">
                <a:alpha val="10000"/>
              </a:srgbClr>
            </a:outerShdw>
          </a:effectLst>
        </p:spPr>
      </p:sp>
      <p:sp>
        <p:nvSpPr>
          <p:cNvPr id="18" name="Text 16"/>
          <p:cNvSpPr/>
          <p:nvPr/>
        </p:nvSpPr>
        <p:spPr>
          <a:xfrm>
            <a:off x="5029200" y="3154680"/>
            <a:ext cx="502920" cy="457200"/>
          </a:xfrm>
          <a:prstGeom prst="rect">
            <a:avLst/>
          </a:prstGeom>
          <a:noFill/>
          <a:ln/>
        </p:spPr>
        <p:txBody>
          <a:bodyPr wrap="square" lIns="0" tIns="0" rIns="0" bIns="0" rtlCol="0" anchor="ctr"/>
          <a:lstStyle/>
          <a:p>
            <a:pPr marL="0" indent="0">
              <a:buNone/>
            </a:pPr>
            <a:r>
              <a:rPr lang="en-US" sz="2200" b="1" dirty="0">
                <a:solidFill>
                  <a:srgbClr val="D8B4FE"/>
                </a:solidFill>
              </a:rPr>
              <a:t>04</a:t>
            </a:r>
            <a:endParaRPr lang="en-US" sz="2200" dirty="0"/>
          </a:p>
        </p:txBody>
      </p:sp>
      <p:sp>
        <p:nvSpPr>
          <p:cNvPr id="19" name="Text 17"/>
          <p:cNvSpPr/>
          <p:nvPr/>
        </p:nvSpPr>
        <p:spPr>
          <a:xfrm>
            <a:off x="5029200" y="3584448"/>
            <a:ext cx="3703320" cy="256032"/>
          </a:xfrm>
          <a:prstGeom prst="rect">
            <a:avLst/>
          </a:prstGeom>
          <a:noFill/>
          <a:ln/>
        </p:spPr>
        <p:txBody>
          <a:bodyPr wrap="square" lIns="0" tIns="0" rIns="0" bIns="0" rtlCol="0" anchor="ctr"/>
          <a:lstStyle/>
          <a:p>
            <a:pPr marL="0" indent="0">
              <a:buNone/>
            </a:pPr>
            <a:r>
              <a:rPr lang="en-US" sz="1200" b="1" dirty="0">
                <a:solidFill>
                  <a:srgbClr val="1E293B"/>
                </a:solidFill>
              </a:rPr>
              <a:t>Mobile-first operations app</a:t>
            </a:r>
            <a:endParaRPr lang="en-US" sz="1200" dirty="0"/>
          </a:p>
        </p:txBody>
      </p:sp>
      <p:sp>
        <p:nvSpPr>
          <p:cNvPr id="20" name="Text 18"/>
          <p:cNvSpPr/>
          <p:nvPr/>
        </p:nvSpPr>
        <p:spPr>
          <a:xfrm>
            <a:off x="5029200" y="3867912"/>
            <a:ext cx="3703320" cy="411480"/>
          </a:xfrm>
          <a:prstGeom prst="rect">
            <a:avLst/>
          </a:prstGeom>
          <a:noFill/>
          <a:ln/>
        </p:spPr>
        <p:txBody>
          <a:bodyPr wrap="square" lIns="0" tIns="0" rIns="0" bIns="0" rtlCol="0" anchor="ctr"/>
          <a:lstStyle/>
          <a:p>
            <a:pPr marL="0" indent="0">
              <a:buNone/>
            </a:pPr>
            <a:r>
              <a:rPr lang="en-US" sz="950" dirty="0">
                <a:solidFill>
                  <a:srgbClr val="64748B"/>
                </a:solidFill>
              </a:rPr>
              <a:t>Field operators need a lightweight PWA — same backend, new client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437"/>
        </a:solidFill>
        <a:effectLst/>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3175">
            <a:solidFill>
              <a:srgbClr val="FFFFFF">
                <a:alpha val="10000"/>
              </a:srgbClr>
            </a:solidFill>
            <a:prstDash val="solid"/>
          </a:ln>
        </p:spPr>
      </p:sp>
      <p:sp>
        <p:nvSpPr>
          <p:cNvPr id="3" name="Shape 1"/>
          <p:cNvSpPr/>
          <p:nvPr/>
        </p:nvSpPr>
        <p:spPr>
          <a:xfrm>
            <a:off x="914400" y="0"/>
            <a:ext cx="0" cy="5143500"/>
          </a:xfrm>
          <a:prstGeom prst="line">
            <a:avLst/>
          </a:prstGeom>
          <a:noFill/>
          <a:ln w="3175">
            <a:solidFill>
              <a:srgbClr val="FFFFFF">
                <a:alpha val="10000"/>
              </a:srgbClr>
            </a:solidFill>
            <a:prstDash val="solid"/>
          </a:ln>
        </p:spPr>
      </p:sp>
      <p:sp>
        <p:nvSpPr>
          <p:cNvPr id="4" name="Shape 2"/>
          <p:cNvSpPr/>
          <p:nvPr/>
        </p:nvSpPr>
        <p:spPr>
          <a:xfrm>
            <a:off x="1828800" y="0"/>
            <a:ext cx="0" cy="5143500"/>
          </a:xfrm>
          <a:prstGeom prst="line">
            <a:avLst/>
          </a:prstGeom>
          <a:noFill/>
          <a:ln w="3175">
            <a:solidFill>
              <a:srgbClr val="FFFFFF">
                <a:alpha val="10000"/>
              </a:srgbClr>
            </a:solidFill>
            <a:prstDash val="solid"/>
          </a:ln>
        </p:spPr>
      </p:sp>
      <p:sp>
        <p:nvSpPr>
          <p:cNvPr id="5" name="Shape 3"/>
          <p:cNvSpPr/>
          <p:nvPr/>
        </p:nvSpPr>
        <p:spPr>
          <a:xfrm>
            <a:off x="2743200" y="0"/>
            <a:ext cx="0" cy="5143500"/>
          </a:xfrm>
          <a:prstGeom prst="line">
            <a:avLst/>
          </a:prstGeom>
          <a:noFill/>
          <a:ln w="3175">
            <a:solidFill>
              <a:srgbClr val="FFFFFF">
                <a:alpha val="10000"/>
              </a:srgbClr>
            </a:solidFill>
            <a:prstDash val="solid"/>
          </a:ln>
        </p:spPr>
      </p:sp>
      <p:sp>
        <p:nvSpPr>
          <p:cNvPr id="6" name="Shape 4"/>
          <p:cNvSpPr/>
          <p:nvPr/>
        </p:nvSpPr>
        <p:spPr>
          <a:xfrm>
            <a:off x="3657600" y="0"/>
            <a:ext cx="0" cy="5143500"/>
          </a:xfrm>
          <a:prstGeom prst="line">
            <a:avLst/>
          </a:prstGeom>
          <a:noFill/>
          <a:ln w="3175">
            <a:solidFill>
              <a:srgbClr val="FFFFFF">
                <a:alpha val="10000"/>
              </a:srgbClr>
            </a:solidFill>
            <a:prstDash val="solid"/>
          </a:ln>
        </p:spPr>
      </p:sp>
      <p:sp>
        <p:nvSpPr>
          <p:cNvPr id="7" name="Shape 5"/>
          <p:cNvSpPr/>
          <p:nvPr/>
        </p:nvSpPr>
        <p:spPr>
          <a:xfrm>
            <a:off x="4572000" y="0"/>
            <a:ext cx="0" cy="5143500"/>
          </a:xfrm>
          <a:prstGeom prst="line">
            <a:avLst/>
          </a:prstGeom>
          <a:noFill/>
          <a:ln w="3175">
            <a:solidFill>
              <a:srgbClr val="FFFFFF">
                <a:alpha val="10000"/>
              </a:srgbClr>
            </a:solidFill>
            <a:prstDash val="solid"/>
          </a:ln>
        </p:spPr>
      </p:sp>
      <p:sp>
        <p:nvSpPr>
          <p:cNvPr id="8" name="Shape 6"/>
          <p:cNvSpPr/>
          <p:nvPr/>
        </p:nvSpPr>
        <p:spPr>
          <a:xfrm>
            <a:off x="5486400" y="0"/>
            <a:ext cx="0" cy="5143500"/>
          </a:xfrm>
          <a:prstGeom prst="line">
            <a:avLst/>
          </a:prstGeom>
          <a:noFill/>
          <a:ln w="3175">
            <a:solidFill>
              <a:srgbClr val="FFFFFF">
                <a:alpha val="10000"/>
              </a:srgbClr>
            </a:solidFill>
            <a:prstDash val="solid"/>
          </a:ln>
        </p:spPr>
      </p:sp>
      <p:sp>
        <p:nvSpPr>
          <p:cNvPr id="9" name="Shape 7"/>
          <p:cNvSpPr/>
          <p:nvPr/>
        </p:nvSpPr>
        <p:spPr>
          <a:xfrm>
            <a:off x="6400800" y="0"/>
            <a:ext cx="0" cy="5143500"/>
          </a:xfrm>
          <a:prstGeom prst="line">
            <a:avLst/>
          </a:prstGeom>
          <a:noFill/>
          <a:ln w="3175">
            <a:solidFill>
              <a:srgbClr val="FFFFFF">
                <a:alpha val="10000"/>
              </a:srgbClr>
            </a:solidFill>
            <a:prstDash val="solid"/>
          </a:ln>
        </p:spPr>
      </p:sp>
      <p:sp>
        <p:nvSpPr>
          <p:cNvPr id="10" name="Shape 8"/>
          <p:cNvSpPr/>
          <p:nvPr/>
        </p:nvSpPr>
        <p:spPr>
          <a:xfrm>
            <a:off x="7315200" y="0"/>
            <a:ext cx="0" cy="5143500"/>
          </a:xfrm>
          <a:prstGeom prst="line">
            <a:avLst/>
          </a:prstGeom>
          <a:noFill/>
          <a:ln w="3175">
            <a:solidFill>
              <a:srgbClr val="FFFFFF">
                <a:alpha val="10000"/>
              </a:srgbClr>
            </a:solidFill>
            <a:prstDash val="solid"/>
          </a:ln>
        </p:spPr>
      </p:sp>
      <p:sp>
        <p:nvSpPr>
          <p:cNvPr id="11" name="Shape 9"/>
          <p:cNvSpPr/>
          <p:nvPr/>
        </p:nvSpPr>
        <p:spPr>
          <a:xfrm>
            <a:off x="8229600" y="0"/>
            <a:ext cx="0" cy="5143500"/>
          </a:xfrm>
          <a:prstGeom prst="line">
            <a:avLst/>
          </a:prstGeom>
          <a:noFill/>
          <a:ln w="3175">
            <a:solidFill>
              <a:srgbClr val="FFFFFF">
                <a:alpha val="10000"/>
              </a:srgbClr>
            </a:solidFill>
            <a:prstDash val="solid"/>
          </a:ln>
        </p:spPr>
      </p:sp>
      <p:sp>
        <p:nvSpPr>
          <p:cNvPr id="12" name="Shape 10"/>
          <p:cNvSpPr/>
          <p:nvPr/>
        </p:nvSpPr>
        <p:spPr>
          <a:xfrm>
            <a:off x="9144000" y="0"/>
            <a:ext cx="0" cy="5143500"/>
          </a:xfrm>
          <a:prstGeom prst="line">
            <a:avLst/>
          </a:prstGeom>
          <a:noFill/>
          <a:ln w="3175">
            <a:solidFill>
              <a:srgbClr val="FFFFFF">
                <a:alpha val="10000"/>
              </a:srgbClr>
            </a:solidFill>
            <a:prstDash val="solid"/>
          </a:ln>
        </p:spPr>
      </p:sp>
      <p:sp>
        <p:nvSpPr>
          <p:cNvPr id="13" name="Text 11"/>
          <p:cNvSpPr/>
          <p:nvPr/>
        </p:nvSpPr>
        <p:spPr>
          <a:xfrm>
            <a:off x="594360" y="1325880"/>
            <a:ext cx="8046720" cy="822960"/>
          </a:xfrm>
          <a:prstGeom prst="rect">
            <a:avLst/>
          </a:prstGeom>
          <a:noFill/>
          <a:ln/>
        </p:spPr>
        <p:txBody>
          <a:bodyPr wrap="square" lIns="0" tIns="0" rIns="0" bIns="0" rtlCol="0" anchor="ctr"/>
          <a:lstStyle/>
          <a:p>
            <a:pPr marL="0" indent="0">
              <a:buNone/>
            </a:pPr>
            <a:r>
              <a:rPr lang="en-US" sz="5200" b="1" dirty="0">
                <a:solidFill>
                  <a:srgbClr val="FFFFFF"/>
                </a:solidFill>
              </a:rPr>
              <a:t>Thank you.</a:t>
            </a:r>
            <a:endParaRPr lang="en-US" sz="5200" dirty="0"/>
          </a:p>
        </p:txBody>
      </p:sp>
      <p:sp>
        <p:nvSpPr>
          <p:cNvPr id="14" name="Text 12"/>
          <p:cNvSpPr/>
          <p:nvPr/>
        </p:nvSpPr>
        <p:spPr>
          <a:xfrm>
            <a:off x="594360" y="2148840"/>
            <a:ext cx="5486400" cy="475488"/>
          </a:xfrm>
          <a:prstGeom prst="rect">
            <a:avLst/>
          </a:prstGeom>
          <a:noFill/>
          <a:ln/>
        </p:spPr>
        <p:txBody>
          <a:bodyPr wrap="square" lIns="0" tIns="0" rIns="0" bIns="0" rtlCol="0" anchor="ctr"/>
          <a:lstStyle/>
          <a:p>
            <a:pPr marL="0" indent="0">
              <a:buNone/>
            </a:pPr>
            <a:r>
              <a:rPr lang="en-US" sz="2400" dirty="0">
                <a:solidFill>
                  <a:srgbClr val="CADCFC"/>
                </a:solidFill>
              </a:rPr>
              <a:t>Questions welcome.</a:t>
            </a:r>
            <a:endParaRPr lang="en-US" sz="2400" dirty="0"/>
          </a:p>
        </p:txBody>
      </p:sp>
      <p:sp>
        <p:nvSpPr>
          <p:cNvPr id="15" name="Shape 13"/>
          <p:cNvSpPr/>
          <p:nvPr/>
        </p:nvSpPr>
        <p:spPr>
          <a:xfrm>
            <a:off x="594360" y="2788920"/>
            <a:ext cx="3200400" cy="0"/>
          </a:xfrm>
          <a:prstGeom prst="line">
            <a:avLst/>
          </a:prstGeom>
          <a:noFill/>
          <a:ln w="12700">
            <a:solidFill>
              <a:srgbClr val="3B4F9C"/>
            </a:solidFill>
            <a:prstDash val="solid"/>
          </a:ln>
        </p:spPr>
      </p:sp>
      <p:sp>
        <p:nvSpPr>
          <p:cNvPr id="16" name="Text 14"/>
          <p:cNvSpPr/>
          <p:nvPr/>
        </p:nvSpPr>
        <p:spPr>
          <a:xfrm>
            <a:off x="594360" y="2971800"/>
            <a:ext cx="4572000" cy="228600"/>
          </a:xfrm>
          <a:prstGeom prst="rect">
            <a:avLst/>
          </a:prstGeom>
          <a:noFill/>
          <a:ln/>
        </p:spPr>
        <p:txBody>
          <a:bodyPr wrap="square" lIns="0" tIns="0" rIns="0" bIns="0" rtlCol="0" anchor="ctr"/>
          <a:lstStyle/>
          <a:p>
            <a:pPr marL="0" indent="0">
              <a:buNone/>
            </a:pPr>
            <a:r>
              <a:rPr lang="en-US" sz="1100" b="1" dirty="0">
                <a:solidFill>
                  <a:srgbClr val="CADCFC"/>
                </a:solidFill>
              </a:rPr>
              <a:t>Disaster Relief Logistics Router</a:t>
            </a:r>
            <a:endParaRPr lang="en-US" sz="1100" dirty="0"/>
          </a:p>
        </p:txBody>
      </p:sp>
      <p:sp>
        <p:nvSpPr>
          <p:cNvPr id="17" name="Text 15"/>
          <p:cNvSpPr/>
          <p:nvPr/>
        </p:nvSpPr>
        <p:spPr>
          <a:xfrm>
            <a:off x="594360" y="3200400"/>
            <a:ext cx="4572000" cy="201168"/>
          </a:xfrm>
          <a:prstGeom prst="rect">
            <a:avLst/>
          </a:prstGeom>
          <a:noFill/>
          <a:ln/>
        </p:spPr>
        <p:txBody>
          <a:bodyPr wrap="square" lIns="0" tIns="0" rIns="0" bIns="0" rtlCol="0" anchor="ctr"/>
          <a:lstStyle/>
          <a:p>
            <a:r>
              <a:rPr lang="en-US" sz="1000" dirty="0">
                <a:solidFill>
                  <a:srgbClr val="4E6FA3"/>
                </a:solidFill>
              </a:rPr>
              <a:t>https://github.com/tanvi-kirloskar/SmartRelief-Logistics-Platform</a:t>
            </a:r>
            <a:endParaRPr lang="en-US" sz="1000" dirty="0"/>
          </a:p>
        </p:txBody>
      </p:sp>
      <p:sp>
        <p:nvSpPr>
          <p:cNvPr id="18" name="Text 16"/>
          <p:cNvSpPr/>
          <p:nvPr/>
        </p:nvSpPr>
        <p:spPr>
          <a:xfrm>
            <a:off x="594360" y="3474720"/>
            <a:ext cx="4572000" cy="228600"/>
          </a:xfrm>
          <a:prstGeom prst="rect">
            <a:avLst/>
          </a:prstGeom>
          <a:noFill/>
          <a:ln/>
        </p:spPr>
        <p:txBody>
          <a:bodyPr wrap="square" lIns="0" tIns="0" rIns="0" bIns="0" rtlCol="0" anchor="ctr"/>
          <a:lstStyle/>
          <a:p>
            <a:pPr marL="0" indent="0">
              <a:buNone/>
            </a:pPr>
            <a:r>
              <a:rPr lang="en-US" sz="1100" b="1" dirty="0">
                <a:solidFill>
                  <a:srgbClr val="CADCFC"/>
                </a:solidFill>
              </a:rPr>
              <a:t>Google AI Agents Capstone</a:t>
            </a:r>
            <a:endParaRPr lang="en-US" sz="1100" dirty="0"/>
          </a:p>
        </p:txBody>
      </p:sp>
      <p:sp>
        <p:nvSpPr>
          <p:cNvPr id="19" name="Text 17"/>
          <p:cNvSpPr/>
          <p:nvPr/>
        </p:nvSpPr>
        <p:spPr>
          <a:xfrm>
            <a:off x="594360" y="3703320"/>
            <a:ext cx="4572000" cy="201168"/>
          </a:xfrm>
          <a:prstGeom prst="rect">
            <a:avLst/>
          </a:prstGeom>
          <a:noFill/>
          <a:ln/>
        </p:spPr>
        <p:txBody>
          <a:bodyPr wrap="square" lIns="0" tIns="0" rIns="0" bIns="0" rtlCol="0" anchor="ctr"/>
          <a:lstStyle/>
          <a:p>
            <a:pPr marL="0" indent="0">
              <a:buNone/>
            </a:pPr>
            <a:r>
              <a:rPr lang="en-US" sz="1000" dirty="0">
                <a:solidFill>
                  <a:srgbClr val="4E6FA3"/>
                </a:solidFill>
              </a:rPr>
              <a:t>kaggle.com/[your-competition-link]</a:t>
            </a:r>
            <a:endParaRPr lang="en-US" sz="1000" dirty="0"/>
          </a:p>
        </p:txBody>
      </p:sp>
      <p:sp>
        <p:nvSpPr>
          <p:cNvPr id="20" name="Shape 18"/>
          <p:cNvSpPr/>
          <p:nvPr/>
        </p:nvSpPr>
        <p:spPr>
          <a:xfrm>
            <a:off x="0" y="4754880"/>
            <a:ext cx="9144000" cy="388620"/>
          </a:xfrm>
          <a:prstGeom prst="rect">
            <a:avLst/>
          </a:prstGeom>
          <a:solidFill>
            <a:srgbClr val="0D1A3F"/>
          </a:solidFill>
          <a:ln w="12700">
            <a:solidFill>
              <a:srgbClr val="0D1A3F"/>
            </a:solidFill>
            <a:prstDash val="solid"/>
          </a:ln>
        </p:spPr>
      </p:sp>
      <p:sp>
        <p:nvSpPr>
          <p:cNvPr id="21" name="Text 19"/>
          <p:cNvSpPr/>
          <p:nvPr/>
        </p:nvSpPr>
        <p:spPr>
          <a:xfrm>
            <a:off x="594360" y="4773168"/>
            <a:ext cx="5486400" cy="320040"/>
          </a:xfrm>
          <a:prstGeom prst="rect">
            <a:avLst/>
          </a:prstGeom>
          <a:noFill/>
          <a:ln/>
        </p:spPr>
        <p:txBody>
          <a:bodyPr wrap="square" lIns="0" tIns="0" rIns="0" bIns="0" rtlCol="0" anchor="ctr"/>
          <a:lstStyle/>
          <a:p>
            <a:pPr marL="0" indent="0">
              <a:buNone/>
            </a:pPr>
            <a:r>
              <a:rPr lang="en-US" sz="950" dirty="0">
                <a:solidFill>
                  <a:srgbClr val="4E6FA3"/>
                </a:solidFill>
              </a:rPr>
              <a:t>Google AI Agents Kaggle Capstone  ·  2026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TotalTime>
  <Words>1231</Words>
  <Application>Microsoft Office PowerPoint</Application>
  <PresentationFormat>On-screen Show (16:9)</PresentationFormat>
  <Paragraphs>189</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Disaster Relief Logistics Router – Google AI Agents Kaggle Capstone</dc:title>
  <dc:subject>PptxGenJS Presentation</dc:subject>
  <dc:creator>PptxGenJS</dc:creator>
  <cp:lastModifiedBy>Sudhir K</cp:lastModifiedBy>
  <cp:revision>2</cp:revision>
  <dcterms:created xsi:type="dcterms:W3CDTF">2026-07-05T16:56:21Z</dcterms:created>
  <dcterms:modified xsi:type="dcterms:W3CDTF">2026-07-06T04:05:04Z</dcterms:modified>
</cp:coreProperties>
</file>